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T Norms Ultra-Bold" charset="1" panose="02000503040000020004"/>
      <p:regular r:id="rId17"/>
    </p:embeddedFont>
    <p:embeddedFont>
      <p:font typeface="Horizon Outlined" charset="1" panose="02000500000000000000"/>
      <p:regular r:id="rId18"/>
    </p:embeddedFont>
    <p:embeddedFont>
      <p:font typeface="TT Norms" charset="1" panose="02000503030000020003"/>
      <p:regular r:id="rId19"/>
    </p:embeddedFont>
    <p:embeddedFont>
      <p:font typeface="TT Norms Bold" charset="1" panose="0200080303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TextBox 2" id="2"/>
          <p:cNvSpPr txBox="true"/>
          <p:nvPr/>
        </p:nvSpPr>
        <p:spPr>
          <a:xfrm rot="0">
            <a:off x="1483489" y="3028669"/>
            <a:ext cx="14216122" cy="2181226"/>
          </a:xfrm>
          <a:prstGeom prst="rect">
            <a:avLst/>
          </a:prstGeom>
        </p:spPr>
        <p:txBody>
          <a:bodyPr anchor="t" rtlCol="false" tIns="0" lIns="0" bIns="0" rIns="0">
            <a:spAutoFit/>
          </a:bodyPr>
          <a:lstStyle/>
          <a:p>
            <a:pPr algn="l">
              <a:lnSpc>
                <a:spcPts val="15000"/>
              </a:lnSpc>
            </a:pPr>
            <a:r>
              <a:rPr lang="en-US" b="true" sz="20000" spc="-1640">
                <a:solidFill>
                  <a:srgbClr val="303030"/>
                </a:solidFill>
                <a:latin typeface="TT Norms Ultra-Bold"/>
                <a:ea typeface="TT Norms Ultra-Bold"/>
                <a:cs typeface="TT Norms Ultra-Bold"/>
                <a:sym typeface="TT Norms Ultra-Bold"/>
              </a:rPr>
              <a:t>CONTENT</a:t>
            </a:r>
          </a:p>
        </p:txBody>
      </p:sp>
      <p:sp>
        <p:nvSpPr>
          <p:cNvPr name="AutoShape 3" id="3"/>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4" id="4"/>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5" id="5"/>
          <p:cNvSpPr/>
          <p:nvPr/>
        </p:nvSpPr>
        <p:spPr>
          <a:xfrm flipH="false" flipV="false" rot="0">
            <a:off x="14801066" y="1028700"/>
            <a:ext cx="2458234" cy="2458234"/>
          </a:xfrm>
          <a:custGeom>
            <a:avLst/>
            <a:gdLst/>
            <a:ahLst/>
            <a:cxnLst/>
            <a:rect r="r" b="b" t="t" l="l"/>
            <a:pathLst>
              <a:path h="2458234" w="2458234">
                <a:moveTo>
                  <a:pt x="0" y="0"/>
                </a:moveTo>
                <a:lnTo>
                  <a:pt x="2458234" y="0"/>
                </a:lnTo>
                <a:lnTo>
                  <a:pt x="2458234" y="2458234"/>
                </a:lnTo>
                <a:lnTo>
                  <a:pt x="0" y="24582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531114" y="1233024"/>
            <a:ext cx="7313507" cy="1844673"/>
          </a:xfrm>
          <a:prstGeom prst="rect">
            <a:avLst/>
          </a:prstGeom>
        </p:spPr>
        <p:txBody>
          <a:bodyPr anchor="t" rtlCol="false" tIns="0" lIns="0" bIns="0" rIns="0">
            <a:spAutoFit/>
          </a:bodyPr>
          <a:lstStyle/>
          <a:p>
            <a:pPr algn="l">
              <a:lnSpc>
                <a:spcPts val="11199"/>
              </a:lnSpc>
            </a:pPr>
            <a:r>
              <a:rPr lang="en-US" sz="15999" spc="-879">
                <a:solidFill>
                  <a:srgbClr val="303030"/>
                </a:solidFill>
                <a:latin typeface="Horizon Outlined"/>
                <a:ea typeface="Horizon Outlined"/>
                <a:cs typeface="Horizon Outlined"/>
                <a:sym typeface="Horizon Outlined"/>
              </a:rPr>
              <a:t>2025</a:t>
            </a:r>
          </a:p>
        </p:txBody>
      </p:sp>
      <p:sp>
        <p:nvSpPr>
          <p:cNvPr name="TextBox 8" id="8"/>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9" id="9"/>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0" id="10"/>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01</a:t>
            </a:r>
          </a:p>
        </p:txBody>
      </p:sp>
      <p:sp>
        <p:nvSpPr>
          <p:cNvPr name="TextBox 11" id="11"/>
          <p:cNvSpPr txBox="true"/>
          <p:nvPr/>
        </p:nvSpPr>
        <p:spPr>
          <a:xfrm rot="0">
            <a:off x="1466816" y="4933669"/>
            <a:ext cx="14216122" cy="2181226"/>
          </a:xfrm>
          <a:prstGeom prst="rect">
            <a:avLst/>
          </a:prstGeom>
        </p:spPr>
        <p:txBody>
          <a:bodyPr anchor="t" rtlCol="false" tIns="0" lIns="0" bIns="0" rIns="0">
            <a:spAutoFit/>
          </a:bodyPr>
          <a:lstStyle/>
          <a:p>
            <a:pPr algn="l">
              <a:lnSpc>
                <a:spcPts val="15000"/>
              </a:lnSpc>
            </a:pPr>
            <a:r>
              <a:rPr lang="en-US" b="true" sz="20000" spc="-1640">
                <a:solidFill>
                  <a:srgbClr val="8C8F7B"/>
                </a:solidFill>
                <a:latin typeface="TT Norms Ultra-Bold"/>
                <a:ea typeface="TT Norms Ultra-Bold"/>
                <a:cs typeface="TT Norms Ultra-Bold"/>
                <a:sym typeface="TT Norms Ultra-Bold"/>
              </a:rPr>
              <a:t>CALENDAR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98572" y="1028700"/>
            <a:ext cx="2458234" cy="2458234"/>
          </a:xfrm>
          <a:custGeom>
            <a:avLst/>
            <a:gdLst/>
            <a:ahLst/>
            <a:cxnLst/>
            <a:rect r="r" b="b" t="t" l="l"/>
            <a:pathLst>
              <a:path h="2458234" w="2458234">
                <a:moveTo>
                  <a:pt x="0" y="0"/>
                </a:moveTo>
                <a:lnTo>
                  <a:pt x="2458234" y="0"/>
                </a:lnTo>
                <a:lnTo>
                  <a:pt x="2458234" y="2458234"/>
                </a:lnTo>
                <a:lnTo>
                  <a:pt x="0" y="2458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5816285" y="5148646"/>
            <a:ext cx="1991376" cy="637263"/>
            <a:chOff x="0" y="0"/>
            <a:chExt cx="524478" cy="167839"/>
          </a:xfrm>
        </p:grpSpPr>
        <p:sp>
          <p:nvSpPr>
            <p:cNvPr name="Freeform 7" id="7"/>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8" id="8"/>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03</a:t>
              </a:r>
            </a:p>
          </p:txBody>
        </p:sp>
      </p:grpSp>
      <p:sp>
        <p:nvSpPr>
          <p:cNvPr name="TextBox 9" id="9"/>
          <p:cNvSpPr txBox="true"/>
          <p:nvPr/>
        </p:nvSpPr>
        <p:spPr>
          <a:xfrm rot="0">
            <a:off x="6465150" y="2396887"/>
            <a:ext cx="10838968" cy="1743074"/>
          </a:xfrm>
          <a:prstGeom prst="rect">
            <a:avLst/>
          </a:prstGeom>
        </p:spPr>
        <p:txBody>
          <a:bodyPr anchor="t" rtlCol="false" tIns="0" lIns="0" bIns="0" rIns="0">
            <a:spAutoFit/>
          </a:bodyPr>
          <a:lstStyle/>
          <a:p>
            <a:pPr algn="r">
              <a:lnSpc>
                <a:spcPts val="11999"/>
              </a:lnSpc>
            </a:pPr>
            <a:r>
              <a:rPr lang="en-US" b="true" sz="15999" spc="-1311">
                <a:solidFill>
                  <a:srgbClr val="8C8F7B"/>
                </a:solidFill>
                <a:latin typeface="TT Norms Ultra-Bold"/>
                <a:ea typeface="TT Norms Ultra-Bold"/>
                <a:cs typeface="TT Norms Ultra-Bold"/>
                <a:sym typeface="TT Norms Ultra-Bold"/>
              </a:rPr>
              <a:t>CONTENTS</a:t>
            </a:r>
          </a:p>
        </p:txBody>
      </p:sp>
      <p:sp>
        <p:nvSpPr>
          <p:cNvPr name="TextBox 10" id="10"/>
          <p:cNvSpPr txBox="true"/>
          <p:nvPr/>
        </p:nvSpPr>
        <p:spPr>
          <a:xfrm rot="0">
            <a:off x="6485412" y="1154494"/>
            <a:ext cx="10818705" cy="1270002"/>
          </a:xfrm>
          <a:prstGeom prst="rect">
            <a:avLst/>
          </a:prstGeom>
        </p:spPr>
        <p:txBody>
          <a:bodyPr anchor="t" rtlCol="false" tIns="0" lIns="0" bIns="0" rIns="0">
            <a:spAutoFit/>
          </a:bodyPr>
          <a:lstStyle/>
          <a:p>
            <a:pPr algn="r">
              <a:lnSpc>
                <a:spcPts val="7700"/>
              </a:lnSpc>
            </a:pPr>
            <a:r>
              <a:rPr lang="en-US" sz="11000" spc="-605">
                <a:solidFill>
                  <a:srgbClr val="303030"/>
                </a:solidFill>
                <a:latin typeface="Horizon Outlined"/>
                <a:ea typeface="Horizon Outlined"/>
                <a:cs typeface="Horizon Outlined"/>
                <a:sym typeface="Horizon Outlined"/>
              </a:rPr>
              <a:t>TABLE OF</a:t>
            </a:r>
          </a:p>
        </p:txBody>
      </p:sp>
      <p:sp>
        <p:nvSpPr>
          <p:cNvPr name="TextBox 11" id="11"/>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12" id="12"/>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3" id="13"/>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02</a:t>
            </a:r>
          </a:p>
        </p:txBody>
      </p:sp>
      <p:sp>
        <p:nvSpPr>
          <p:cNvPr name="TextBox 14" id="14"/>
          <p:cNvSpPr txBox="true"/>
          <p:nvPr/>
        </p:nvSpPr>
        <p:spPr>
          <a:xfrm rot="0">
            <a:off x="8150561" y="5214547"/>
            <a:ext cx="3094897"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Business Overview</a:t>
            </a:r>
          </a:p>
        </p:txBody>
      </p:sp>
      <p:sp>
        <p:nvSpPr>
          <p:cNvPr name="TextBox 15" id="15"/>
          <p:cNvSpPr txBox="true"/>
          <p:nvPr/>
        </p:nvSpPr>
        <p:spPr>
          <a:xfrm rot="0">
            <a:off x="8150561" y="6051658"/>
            <a:ext cx="3094897"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Content Themes</a:t>
            </a:r>
          </a:p>
        </p:txBody>
      </p:sp>
      <p:sp>
        <p:nvSpPr>
          <p:cNvPr name="TextBox 16" id="16"/>
          <p:cNvSpPr txBox="true"/>
          <p:nvPr/>
        </p:nvSpPr>
        <p:spPr>
          <a:xfrm rot="0">
            <a:off x="8150561" y="6888768"/>
            <a:ext cx="3094897"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Content Pillars</a:t>
            </a:r>
          </a:p>
        </p:txBody>
      </p:sp>
      <p:sp>
        <p:nvSpPr>
          <p:cNvPr name="TextBox 17" id="17"/>
          <p:cNvSpPr txBox="true"/>
          <p:nvPr/>
        </p:nvSpPr>
        <p:spPr>
          <a:xfrm rot="0">
            <a:off x="14390795" y="5214547"/>
            <a:ext cx="2868505"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Posting Schedule</a:t>
            </a:r>
          </a:p>
        </p:txBody>
      </p:sp>
      <p:sp>
        <p:nvSpPr>
          <p:cNvPr name="TextBox 18" id="18"/>
          <p:cNvSpPr txBox="true"/>
          <p:nvPr/>
        </p:nvSpPr>
        <p:spPr>
          <a:xfrm rot="0">
            <a:off x="14390795" y="6051658"/>
            <a:ext cx="2868505"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Analytics Tracking</a:t>
            </a:r>
          </a:p>
        </p:txBody>
      </p:sp>
      <p:sp>
        <p:nvSpPr>
          <p:cNvPr name="TextBox 19" id="19"/>
          <p:cNvSpPr txBox="true"/>
          <p:nvPr/>
        </p:nvSpPr>
        <p:spPr>
          <a:xfrm rot="0">
            <a:off x="14390795" y="6888768"/>
            <a:ext cx="2868505"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2025 Key Dates</a:t>
            </a:r>
          </a:p>
        </p:txBody>
      </p:sp>
      <p:sp>
        <p:nvSpPr>
          <p:cNvPr name="TextBox 20" id="20"/>
          <p:cNvSpPr txBox="true"/>
          <p:nvPr/>
        </p:nvSpPr>
        <p:spPr>
          <a:xfrm rot="0">
            <a:off x="14390795" y="7725879"/>
            <a:ext cx="2868505"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Weekly Planner</a:t>
            </a:r>
          </a:p>
        </p:txBody>
      </p:sp>
      <p:grpSp>
        <p:nvGrpSpPr>
          <p:cNvPr name="Group 21" id="21"/>
          <p:cNvGrpSpPr/>
          <p:nvPr/>
        </p:nvGrpSpPr>
        <p:grpSpPr>
          <a:xfrm rot="0">
            <a:off x="5816285" y="5985667"/>
            <a:ext cx="1991376" cy="637263"/>
            <a:chOff x="0" y="0"/>
            <a:chExt cx="524478" cy="167839"/>
          </a:xfrm>
        </p:grpSpPr>
        <p:sp>
          <p:nvSpPr>
            <p:cNvPr name="Freeform 22" id="22"/>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23" id="23"/>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04</a:t>
              </a:r>
            </a:p>
          </p:txBody>
        </p:sp>
      </p:grpSp>
      <p:grpSp>
        <p:nvGrpSpPr>
          <p:cNvPr name="Group 24" id="24"/>
          <p:cNvGrpSpPr/>
          <p:nvPr/>
        </p:nvGrpSpPr>
        <p:grpSpPr>
          <a:xfrm rot="0">
            <a:off x="5816285" y="6822689"/>
            <a:ext cx="1991376" cy="637263"/>
            <a:chOff x="0" y="0"/>
            <a:chExt cx="524478" cy="167839"/>
          </a:xfrm>
        </p:grpSpPr>
        <p:sp>
          <p:nvSpPr>
            <p:cNvPr name="Freeform 25" id="25"/>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26" id="26"/>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05</a:t>
              </a:r>
            </a:p>
          </p:txBody>
        </p:sp>
      </p:grpSp>
      <p:sp>
        <p:nvSpPr>
          <p:cNvPr name="TextBox 27" id="27"/>
          <p:cNvSpPr txBox="true"/>
          <p:nvPr/>
        </p:nvSpPr>
        <p:spPr>
          <a:xfrm rot="0">
            <a:off x="8150561" y="7725879"/>
            <a:ext cx="3094897" cy="448310"/>
          </a:xfrm>
          <a:prstGeom prst="rect">
            <a:avLst/>
          </a:prstGeom>
        </p:spPr>
        <p:txBody>
          <a:bodyPr anchor="t" rtlCol="false" tIns="0" lIns="0" bIns="0" rIns="0">
            <a:spAutoFit/>
          </a:bodyPr>
          <a:lstStyle/>
          <a:p>
            <a:pPr algn="r">
              <a:lnSpc>
                <a:spcPts val="3639"/>
              </a:lnSpc>
              <a:spcBef>
                <a:spcPct val="0"/>
              </a:spcBef>
            </a:pPr>
            <a:r>
              <a:rPr lang="en-US" sz="2599" spc="-109">
                <a:solidFill>
                  <a:srgbClr val="303030"/>
                </a:solidFill>
                <a:latin typeface="TT Norms"/>
                <a:ea typeface="TT Norms"/>
                <a:cs typeface="TT Norms"/>
                <a:sym typeface="TT Norms"/>
              </a:rPr>
              <a:t>Content Format</a:t>
            </a:r>
          </a:p>
        </p:txBody>
      </p:sp>
      <p:grpSp>
        <p:nvGrpSpPr>
          <p:cNvPr name="Group 28" id="28"/>
          <p:cNvGrpSpPr/>
          <p:nvPr/>
        </p:nvGrpSpPr>
        <p:grpSpPr>
          <a:xfrm rot="0">
            <a:off x="5816285" y="7659977"/>
            <a:ext cx="1991376" cy="637263"/>
            <a:chOff x="0" y="0"/>
            <a:chExt cx="524478" cy="167839"/>
          </a:xfrm>
        </p:grpSpPr>
        <p:sp>
          <p:nvSpPr>
            <p:cNvPr name="Freeform 29" id="29"/>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30" id="30"/>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06</a:t>
              </a:r>
            </a:p>
          </p:txBody>
        </p:sp>
      </p:grpSp>
      <p:grpSp>
        <p:nvGrpSpPr>
          <p:cNvPr name="Group 31" id="31"/>
          <p:cNvGrpSpPr/>
          <p:nvPr/>
        </p:nvGrpSpPr>
        <p:grpSpPr>
          <a:xfrm rot="0">
            <a:off x="12056519" y="5148646"/>
            <a:ext cx="1991376" cy="637263"/>
            <a:chOff x="0" y="0"/>
            <a:chExt cx="524478" cy="167839"/>
          </a:xfrm>
        </p:grpSpPr>
        <p:sp>
          <p:nvSpPr>
            <p:cNvPr name="Freeform 32" id="32"/>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33" id="33"/>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07</a:t>
              </a:r>
            </a:p>
          </p:txBody>
        </p:sp>
      </p:grpSp>
      <p:grpSp>
        <p:nvGrpSpPr>
          <p:cNvPr name="Group 34" id="34"/>
          <p:cNvGrpSpPr/>
          <p:nvPr/>
        </p:nvGrpSpPr>
        <p:grpSpPr>
          <a:xfrm rot="0">
            <a:off x="12056519" y="5985667"/>
            <a:ext cx="1991376" cy="637263"/>
            <a:chOff x="0" y="0"/>
            <a:chExt cx="524478" cy="167839"/>
          </a:xfrm>
        </p:grpSpPr>
        <p:sp>
          <p:nvSpPr>
            <p:cNvPr name="Freeform 35" id="35"/>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36" id="36"/>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08</a:t>
              </a:r>
            </a:p>
          </p:txBody>
        </p:sp>
      </p:grpSp>
      <p:grpSp>
        <p:nvGrpSpPr>
          <p:cNvPr name="Group 37" id="37"/>
          <p:cNvGrpSpPr/>
          <p:nvPr/>
        </p:nvGrpSpPr>
        <p:grpSpPr>
          <a:xfrm rot="0">
            <a:off x="12056519" y="6822689"/>
            <a:ext cx="1991376" cy="637263"/>
            <a:chOff x="0" y="0"/>
            <a:chExt cx="524478" cy="167839"/>
          </a:xfrm>
        </p:grpSpPr>
        <p:sp>
          <p:nvSpPr>
            <p:cNvPr name="Freeform 38" id="38"/>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39" id="39"/>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09</a:t>
              </a:r>
            </a:p>
          </p:txBody>
        </p:sp>
      </p:grpSp>
      <p:grpSp>
        <p:nvGrpSpPr>
          <p:cNvPr name="Group 40" id="40"/>
          <p:cNvGrpSpPr/>
          <p:nvPr/>
        </p:nvGrpSpPr>
        <p:grpSpPr>
          <a:xfrm rot="0">
            <a:off x="12056519" y="7659977"/>
            <a:ext cx="1991376" cy="637263"/>
            <a:chOff x="0" y="0"/>
            <a:chExt cx="524478" cy="167839"/>
          </a:xfrm>
        </p:grpSpPr>
        <p:sp>
          <p:nvSpPr>
            <p:cNvPr name="Freeform 41" id="41"/>
            <p:cNvSpPr/>
            <p:nvPr/>
          </p:nvSpPr>
          <p:spPr>
            <a:xfrm flipH="false" flipV="false" rot="0">
              <a:off x="0" y="0"/>
              <a:ext cx="524478" cy="167839"/>
            </a:xfrm>
            <a:custGeom>
              <a:avLst/>
              <a:gdLst/>
              <a:ahLst/>
              <a:cxnLst/>
              <a:rect r="r" b="b" t="t" l="l"/>
              <a:pathLst>
                <a:path h="167839" w="524478">
                  <a:moveTo>
                    <a:pt x="83919" y="0"/>
                  </a:moveTo>
                  <a:lnTo>
                    <a:pt x="440558" y="0"/>
                  </a:lnTo>
                  <a:cubicBezTo>
                    <a:pt x="486906" y="0"/>
                    <a:pt x="524478" y="37572"/>
                    <a:pt x="524478" y="83919"/>
                  </a:cubicBezTo>
                  <a:lnTo>
                    <a:pt x="524478" y="83919"/>
                  </a:lnTo>
                  <a:cubicBezTo>
                    <a:pt x="524478" y="130267"/>
                    <a:pt x="486906" y="167839"/>
                    <a:pt x="44055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303030"/>
              </a:solidFill>
              <a:prstDash val="solid"/>
              <a:round/>
            </a:ln>
          </p:spPr>
        </p:sp>
        <p:sp>
          <p:nvSpPr>
            <p:cNvPr name="TextBox 42" id="42"/>
            <p:cNvSpPr txBox="true"/>
            <p:nvPr/>
          </p:nvSpPr>
          <p:spPr>
            <a:xfrm>
              <a:off x="0" y="-47625"/>
              <a:ext cx="524478" cy="215464"/>
            </a:xfrm>
            <a:prstGeom prst="rect">
              <a:avLst/>
            </a:prstGeom>
          </p:spPr>
          <p:txBody>
            <a:bodyPr anchor="ctr" rtlCol="false" tIns="50800" lIns="50800" bIns="50800" rIns="50800"/>
            <a:lstStyle/>
            <a:p>
              <a:pPr algn="ctr" marL="0" indent="0" lvl="0">
                <a:lnSpc>
                  <a:spcPts val="2940"/>
                </a:lnSpc>
                <a:spcBef>
                  <a:spcPct val="0"/>
                </a:spcBef>
              </a:pPr>
              <a:r>
                <a:rPr lang="en-US" sz="2100" spc="-46" strike="noStrike" u="none">
                  <a:solidFill>
                    <a:srgbClr val="303030"/>
                  </a:solidFill>
                  <a:latin typeface="TT Norms"/>
                  <a:ea typeface="TT Norms"/>
                  <a:cs typeface="TT Norms"/>
                  <a:sym typeface="TT Norms"/>
                </a:rPr>
                <a:t>PAGE 11</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598572" y="4523452"/>
            <a:ext cx="4311313" cy="637263"/>
            <a:chOff x="0" y="0"/>
            <a:chExt cx="1135490" cy="167839"/>
          </a:xfrm>
        </p:grpSpPr>
        <p:sp>
          <p:nvSpPr>
            <p:cNvPr name="Freeform 6" id="6"/>
            <p:cNvSpPr/>
            <p:nvPr/>
          </p:nvSpPr>
          <p:spPr>
            <a:xfrm flipH="false" flipV="false" rot="0">
              <a:off x="0" y="0"/>
              <a:ext cx="1135490" cy="167839"/>
            </a:xfrm>
            <a:custGeom>
              <a:avLst/>
              <a:gdLst/>
              <a:ahLst/>
              <a:cxnLst/>
              <a:rect r="r" b="b" t="t" l="l"/>
              <a:pathLst>
                <a:path h="167839" w="1135490">
                  <a:moveTo>
                    <a:pt x="83919" y="0"/>
                  </a:moveTo>
                  <a:lnTo>
                    <a:pt x="1051570" y="0"/>
                  </a:lnTo>
                  <a:cubicBezTo>
                    <a:pt x="1097918" y="0"/>
                    <a:pt x="1135490" y="37572"/>
                    <a:pt x="1135490" y="83919"/>
                  </a:cubicBezTo>
                  <a:lnTo>
                    <a:pt x="1135490" y="83919"/>
                  </a:lnTo>
                  <a:cubicBezTo>
                    <a:pt x="1135490" y="130267"/>
                    <a:pt x="1097918" y="167839"/>
                    <a:pt x="1051570"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7" id="7"/>
            <p:cNvSpPr txBox="true"/>
            <p:nvPr/>
          </p:nvSpPr>
          <p:spPr>
            <a:xfrm>
              <a:off x="0" y="-47625"/>
              <a:ext cx="1135490"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BUSINESS GOALS</a:t>
              </a:r>
            </a:p>
          </p:txBody>
        </p:sp>
      </p:grpSp>
      <p:sp>
        <p:nvSpPr>
          <p:cNvPr name="Freeform 8" id="8"/>
          <p:cNvSpPr/>
          <p:nvPr/>
        </p:nvSpPr>
        <p:spPr>
          <a:xfrm flipH="false" flipV="false" rot="0">
            <a:off x="15217208" y="1028700"/>
            <a:ext cx="2042092" cy="2042092"/>
          </a:xfrm>
          <a:custGeom>
            <a:avLst/>
            <a:gdLst/>
            <a:ahLst/>
            <a:cxnLst/>
            <a:rect r="r" b="b" t="t" l="l"/>
            <a:pathLst>
              <a:path h="2042092" w="2042092">
                <a:moveTo>
                  <a:pt x="0" y="0"/>
                </a:moveTo>
                <a:lnTo>
                  <a:pt x="2042092" y="0"/>
                </a:lnTo>
                <a:lnTo>
                  <a:pt x="2042092" y="2042092"/>
                </a:lnTo>
                <a:lnTo>
                  <a:pt x="0" y="2042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526761" y="2149237"/>
            <a:ext cx="10838968" cy="1419224"/>
          </a:xfrm>
          <a:prstGeom prst="rect">
            <a:avLst/>
          </a:prstGeom>
        </p:spPr>
        <p:txBody>
          <a:bodyPr anchor="t" rtlCol="false" tIns="0" lIns="0" bIns="0" rIns="0">
            <a:spAutoFit/>
          </a:bodyPr>
          <a:lstStyle/>
          <a:p>
            <a:pPr algn="l">
              <a:lnSpc>
                <a:spcPts val="9749"/>
              </a:lnSpc>
            </a:pPr>
            <a:r>
              <a:rPr lang="en-US" b="true" sz="12999" spc="-1065">
                <a:solidFill>
                  <a:srgbClr val="303030"/>
                </a:solidFill>
                <a:latin typeface="TT Norms Ultra-Bold"/>
                <a:ea typeface="TT Norms Ultra-Bold"/>
                <a:cs typeface="TT Norms Ultra-Bold"/>
                <a:sym typeface="TT Norms Ultra-Bold"/>
              </a:rPr>
              <a:t>OVERVIEW</a:t>
            </a:r>
          </a:p>
        </p:txBody>
      </p:sp>
      <p:sp>
        <p:nvSpPr>
          <p:cNvPr name="TextBox 10" id="10"/>
          <p:cNvSpPr txBox="true"/>
          <p:nvPr/>
        </p:nvSpPr>
        <p:spPr>
          <a:xfrm rot="0">
            <a:off x="1507711" y="1135444"/>
            <a:ext cx="10818705" cy="1038225"/>
          </a:xfrm>
          <a:prstGeom prst="rect">
            <a:avLst/>
          </a:prstGeom>
        </p:spPr>
        <p:txBody>
          <a:bodyPr anchor="t" rtlCol="false" tIns="0" lIns="0" bIns="0" rIns="0">
            <a:spAutoFit/>
          </a:bodyPr>
          <a:lstStyle/>
          <a:p>
            <a:pPr algn="l">
              <a:lnSpc>
                <a:spcPts val="6299"/>
              </a:lnSpc>
            </a:pPr>
            <a:r>
              <a:rPr lang="en-US" sz="9000" spc="-495">
                <a:solidFill>
                  <a:srgbClr val="303030"/>
                </a:solidFill>
                <a:latin typeface="Horizon Outlined"/>
                <a:ea typeface="Horizon Outlined"/>
                <a:cs typeface="Horizon Outlined"/>
                <a:sym typeface="Horizon Outlined"/>
              </a:rPr>
              <a:t>BUSINESS</a:t>
            </a:r>
          </a:p>
        </p:txBody>
      </p:sp>
      <p:sp>
        <p:nvSpPr>
          <p:cNvPr name="TextBox 11" id="11"/>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12" id="12"/>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3" id="13"/>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03</a:t>
            </a:r>
          </a:p>
        </p:txBody>
      </p:sp>
      <p:sp>
        <p:nvSpPr>
          <p:cNvPr name="TextBox 14" id="14"/>
          <p:cNvSpPr txBox="true"/>
          <p:nvPr/>
        </p:nvSpPr>
        <p:spPr>
          <a:xfrm rot="0">
            <a:off x="1598572" y="5579745"/>
            <a:ext cx="4311313" cy="313563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Outline the main business goals that the content will support. For example, are you aiming to increase brand awareness, drive sales, build community, or promote a new product or service? Lorem ipsum dolor sit amet, consectetur adipiscing elit. Donec quis erat et quam iaculis faucibus at sit amet nibh. Vestibulum dignissim lectus in ligula rhoncus, et bibendum risus dictum. Pellentesque condimentum arcu id dapibus tempor.</a:t>
            </a:r>
          </a:p>
        </p:txBody>
      </p:sp>
      <p:grpSp>
        <p:nvGrpSpPr>
          <p:cNvPr name="Group 15" id="15"/>
          <p:cNvGrpSpPr/>
          <p:nvPr/>
        </p:nvGrpSpPr>
        <p:grpSpPr>
          <a:xfrm rot="0">
            <a:off x="12947987" y="4523452"/>
            <a:ext cx="4311313" cy="637263"/>
            <a:chOff x="0" y="0"/>
            <a:chExt cx="1135490" cy="167839"/>
          </a:xfrm>
        </p:grpSpPr>
        <p:sp>
          <p:nvSpPr>
            <p:cNvPr name="Freeform 16" id="16"/>
            <p:cNvSpPr/>
            <p:nvPr/>
          </p:nvSpPr>
          <p:spPr>
            <a:xfrm flipH="false" flipV="false" rot="0">
              <a:off x="0" y="0"/>
              <a:ext cx="1135490" cy="167839"/>
            </a:xfrm>
            <a:custGeom>
              <a:avLst/>
              <a:gdLst/>
              <a:ahLst/>
              <a:cxnLst/>
              <a:rect r="r" b="b" t="t" l="l"/>
              <a:pathLst>
                <a:path h="167839" w="1135490">
                  <a:moveTo>
                    <a:pt x="83919" y="0"/>
                  </a:moveTo>
                  <a:lnTo>
                    <a:pt x="1051570" y="0"/>
                  </a:lnTo>
                  <a:cubicBezTo>
                    <a:pt x="1097918" y="0"/>
                    <a:pt x="1135490" y="37572"/>
                    <a:pt x="1135490" y="83919"/>
                  </a:cubicBezTo>
                  <a:lnTo>
                    <a:pt x="1135490" y="83919"/>
                  </a:lnTo>
                  <a:cubicBezTo>
                    <a:pt x="1135490" y="130267"/>
                    <a:pt x="1097918" y="167839"/>
                    <a:pt x="1051570"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17" id="17"/>
            <p:cNvSpPr txBox="true"/>
            <p:nvPr/>
          </p:nvSpPr>
          <p:spPr>
            <a:xfrm>
              <a:off x="0" y="-47625"/>
              <a:ext cx="1135490"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TARGET AUDIENCE</a:t>
              </a:r>
            </a:p>
          </p:txBody>
        </p:sp>
      </p:grpSp>
      <p:sp>
        <p:nvSpPr>
          <p:cNvPr name="TextBox 18" id="18"/>
          <p:cNvSpPr txBox="true"/>
          <p:nvPr/>
        </p:nvSpPr>
        <p:spPr>
          <a:xfrm rot="0">
            <a:off x="7273279" y="5579745"/>
            <a:ext cx="4311313" cy="313563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Clarify who you're creating content for, including any specific segments or different audiences on certain platforms. Consider both demographics and psychographics. Lorem ipsum dolor sit amet, consectetur adipiscing elit. Donec quis erat et quam iaculis faucibus at sit amet nibh. Vestibulum dignissim lectus in ligula rhoncus, et bibendum risus dictum. Pellentesque condimentum arcu id dapibus tempor.</a:t>
            </a:r>
          </a:p>
        </p:txBody>
      </p:sp>
      <p:grpSp>
        <p:nvGrpSpPr>
          <p:cNvPr name="Group 19" id="19"/>
          <p:cNvGrpSpPr/>
          <p:nvPr/>
        </p:nvGrpSpPr>
        <p:grpSpPr>
          <a:xfrm rot="0">
            <a:off x="7273279" y="4523452"/>
            <a:ext cx="4311313" cy="637263"/>
            <a:chOff x="0" y="0"/>
            <a:chExt cx="1135490" cy="167839"/>
          </a:xfrm>
        </p:grpSpPr>
        <p:sp>
          <p:nvSpPr>
            <p:cNvPr name="Freeform 20" id="20"/>
            <p:cNvSpPr/>
            <p:nvPr/>
          </p:nvSpPr>
          <p:spPr>
            <a:xfrm flipH="false" flipV="false" rot="0">
              <a:off x="0" y="0"/>
              <a:ext cx="1135490" cy="167839"/>
            </a:xfrm>
            <a:custGeom>
              <a:avLst/>
              <a:gdLst/>
              <a:ahLst/>
              <a:cxnLst/>
              <a:rect r="r" b="b" t="t" l="l"/>
              <a:pathLst>
                <a:path h="167839" w="1135490">
                  <a:moveTo>
                    <a:pt x="83919" y="0"/>
                  </a:moveTo>
                  <a:lnTo>
                    <a:pt x="1051570" y="0"/>
                  </a:lnTo>
                  <a:cubicBezTo>
                    <a:pt x="1097918" y="0"/>
                    <a:pt x="1135490" y="37572"/>
                    <a:pt x="1135490" y="83919"/>
                  </a:cubicBezTo>
                  <a:lnTo>
                    <a:pt x="1135490" y="83919"/>
                  </a:lnTo>
                  <a:cubicBezTo>
                    <a:pt x="1135490" y="130267"/>
                    <a:pt x="1097918" y="167839"/>
                    <a:pt x="1051570"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21" id="21"/>
            <p:cNvSpPr txBox="true"/>
            <p:nvPr/>
          </p:nvSpPr>
          <p:spPr>
            <a:xfrm>
              <a:off x="0" y="-47625"/>
              <a:ext cx="1135490"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CONTENT GOALS</a:t>
              </a:r>
            </a:p>
          </p:txBody>
        </p:sp>
      </p:grpSp>
      <p:sp>
        <p:nvSpPr>
          <p:cNvPr name="TextBox 22" id="22"/>
          <p:cNvSpPr txBox="true"/>
          <p:nvPr/>
        </p:nvSpPr>
        <p:spPr>
          <a:xfrm rot="0">
            <a:off x="12947987" y="5579745"/>
            <a:ext cx="4311313" cy="313563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Define the specific goals for your content. Do you want to increase engagement, boost website traffic, or promote product features? Different content may have different goals. Lorem ipsum dolor sit amet, consectetur adipiscing elit. Donec quis erat et quam iaculis faucibus at sit amet nibh. Vestibulum dignissim lectus in ligula rhoncus, et bibendum risus dictum. Pellentesque condimentum arcu id dapibus tempor.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605289" y="5791947"/>
            <a:ext cx="4311313" cy="637263"/>
            <a:chOff x="0" y="0"/>
            <a:chExt cx="1135490" cy="167839"/>
          </a:xfrm>
        </p:grpSpPr>
        <p:sp>
          <p:nvSpPr>
            <p:cNvPr name="Freeform 6" id="6"/>
            <p:cNvSpPr/>
            <p:nvPr/>
          </p:nvSpPr>
          <p:spPr>
            <a:xfrm flipH="false" flipV="false" rot="0">
              <a:off x="0" y="0"/>
              <a:ext cx="1135490" cy="167839"/>
            </a:xfrm>
            <a:custGeom>
              <a:avLst/>
              <a:gdLst/>
              <a:ahLst/>
              <a:cxnLst/>
              <a:rect r="r" b="b" t="t" l="l"/>
              <a:pathLst>
                <a:path h="167839" w="1135490">
                  <a:moveTo>
                    <a:pt x="83919" y="0"/>
                  </a:moveTo>
                  <a:lnTo>
                    <a:pt x="1051570" y="0"/>
                  </a:lnTo>
                  <a:cubicBezTo>
                    <a:pt x="1097918" y="0"/>
                    <a:pt x="1135490" y="37572"/>
                    <a:pt x="1135490" y="83919"/>
                  </a:cubicBezTo>
                  <a:lnTo>
                    <a:pt x="1135490" y="83919"/>
                  </a:lnTo>
                  <a:cubicBezTo>
                    <a:pt x="1135490" y="130267"/>
                    <a:pt x="1097918" y="167839"/>
                    <a:pt x="1051570"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7" id="7"/>
            <p:cNvSpPr txBox="true"/>
            <p:nvPr/>
          </p:nvSpPr>
          <p:spPr>
            <a:xfrm>
              <a:off x="0" y="-47625"/>
              <a:ext cx="1135490"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EDUCATION</a:t>
              </a:r>
            </a:p>
          </p:txBody>
        </p:sp>
      </p:grpSp>
      <p:grpSp>
        <p:nvGrpSpPr>
          <p:cNvPr name="Group 8" id="8"/>
          <p:cNvGrpSpPr/>
          <p:nvPr/>
        </p:nvGrpSpPr>
        <p:grpSpPr>
          <a:xfrm rot="0">
            <a:off x="7279997" y="5791947"/>
            <a:ext cx="4311313" cy="637263"/>
            <a:chOff x="0" y="0"/>
            <a:chExt cx="1135490" cy="167839"/>
          </a:xfrm>
        </p:grpSpPr>
        <p:sp>
          <p:nvSpPr>
            <p:cNvPr name="Freeform 9" id="9"/>
            <p:cNvSpPr/>
            <p:nvPr/>
          </p:nvSpPr>
          <p:spPr>
            <a:xfrm flipH="false" flipV="false" rot="0">
              <a:off x="0" y="0"/>
              <a:ext cx="1135490" cy="167839"/>
            </a:xfrm>
            <a:custGeom>
              <a:avLst/>
              <a:gdLst/>
              <a:ahLst/>
              <a:cxnLst/>
              <a:rect r="r" b="b" t="t" l="l"/>
              <a:pathLst>
                <a:path h="167839" w="1135490">
                  <a:moveTo>
                    <a:pt x="83919" y="0"/>
                  </a:moveTo>
                  <a:lnTo>
                    <a:pt x="1051570" y="0"/>
                  </a:lnTo>
                  <a:cubicBezTo>
                    <a:pt x="1097918" y="0"/>
                    <a:pt x="1135490" y="37572"/>
                    <a:pt x="1135490" y="83919"/>
                  </a:cubicBezTo>
                  <a:lnTo>
                    <a:pt x="1135490" y="83919"/>
                  </a:lnTo>
                  <a:cubicBezTo>
                    <a:pt x="1135490" y="130267"/>
                    <a:pt x="1097918" y="167839"/>
                    <a:pt x="1051570"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10" id="10"/>
            <p:cNvSpPr txBox="true"/>
            <p:nvPr/>
          </p:nvSpPr>
          <p:spPr>
            <a:xfrm>
              <a:off x="0" y="-47625"/>
              <a:ext cx="1135490"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CONNECTION</a:t>
              </a:r>
            </a:p>
          </p:txBody>
        </p:sp>
      </p:grpSp>
      <p:grpSp>
        <p:nvGrpSpPr>
          <p:cNvPr name="Group 11" id="11"/>
          <p:cNvGrpSpPr/>
          <p:nvPr/>
        </p:nvGrpSpPr>
        <p:grpSpPr>
          <a:xfrm rot="0">
            <a:off x="12954705" y="5791947"/>
            <a:ext cx="4311313" cy="637263"/>
            <a:chOff x="0" y="0"/>
            <a:chExt cx="1135490" cy="167839"/>
          </a:xfrm>
        </p:grpSpPr>
        <p:sp>
          <p:nvSpPr>
            <p:cNvPr name="Freeform 12" id="12"/>
            <p:cNvSpPr/>
            <p:nvPr/>
          </p:nvSpPr>
          <p:spPr>
            <a:xfrm flipH="false" flipV="false" rot="0">
              <a:off x="0" y="0"/>
              <a:ext cx="1135490" cy="167839"/>
            </a:xfrm>
            <a:custGeom>
              <a:avLst/>
              <a:gdLst/>
              <a:ahLst/>
              <a:cxnLst/>
              <a:rect r="r" b="b" t="t" l="l"/>
              <a:pathLst>
                <a:path h="167839" w="1135490">
                  <a:moveTo>
                    <a:pt x="83919" y="0"/>
                  </a:moveTo>
                  <a:lnTo>
                    <a:pt x="1051570" y="0"/>
                  </a:lnTo>
                  <a:cubicBezTo>
                    <a:pt x="1097918" y="0"/>
                    <a:pt x="1135490" y="37572"/>
                    <a:pt x="1135490" y="83919"/>
                  </a:cubicBezTo>
                  <a:lnTo>
                    <a:pt x="1135490" y="83919"/>
                  </a:lnTo>
                  <a:cubicBezTo>
                    <a:pt x="1135490" y="130267"/>
                    <a:pt x="1097918" y="167839"/>
                    <a:pt x="1051570"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13" id="13"/>
            <p:cNvSpPr txBox="true"/>
            <p:nvPr/>
          </p:nvSpPr>
          <p:spPr>
            <a:xfrm>
              <a:off x="0" y="-47625"/>
              <a:ext cx="1135490"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SALES &amp; PROMOTION</a:t>
              </a:r>
            </a:p>
          </p:txBody>
        </p:sp>
      </p:grpSp>
      <p:sp>
        <p:nvSpPr>
          <p:cNvPr name="Freeform 14" id="14"/>
          <p:cNvSpPr/>
          <p:nvPr/>
        </p:nvSpPr>
        <p:spPr>
          <a:xfrm flipH="false" flipV="false" rot="0">
            <a:off x="1605289" y="3525021"/>
            <a:ext cx="1733526" cy="1733526"/>
          </a:xfrm>
          <a:custGeom>
            <a:avLst/>
            <a:gdLst/>
            <a:ahLst/>
            <a:cxnLst/>
            <a:rect r="r" b="b" t="t" l="l"/>
            <a:pathLst>
              <a:path h="1733526" w="1733526">
                <a:moveTo>
                  <a:pt x="0" y="0"/>
                </a:moveTo>
                <a:lnTo>
                  <a:pt x="1733526" y="0"/>
                </a:lnTo>
                <a:lnTo>
                  <a:pt x="1733526" y="1733526"/>
                </a:lnTo>
                <a:lnTo>
                  <a:pt x="0" y="17335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0767577" y="1245166"/>
            <a:ext cx="6517491" cy="1419224"/>
          </a:xfrm>
          <a:prstGeom prst="rect">
            <a:avLst/>
          </a:prstGeom>
        </p:spPr>
        <p:txBody>
          <a:bodyPr anchor="t" rtlCol="false" tIns="0" lIns="0" bIns="0" rIns="0">
            <a:spAutoFit/>
          </a:bodyPr>
          <a:lstStyle/>
          <a:p>
            <a:pPr algn="r">
              <a:lnSpc>
                <a:spcPts val="9749"/>
              </a:lnSpc>
            </a:pPr>
            <a:r>
              <a:rPr lang="en-US" b="true" sz="12999" spc="-1065">
                <a:solidFill>
                  <a:srgbClr val="8C8F7B"/>
                </a:solidFill>
                <a:latin typeface="TT Norms Ultra-Bold"/>
                <a:ea typeface="TT Norms Ultra-Bold"/>
                <a:cs typeface="TT Norms Ultra-Bold"/>
                <a:sym typeface="TT Norms Ultra-Bold"/>
              </a:rPr>
              <a:t>THEMES</a:t>
            </a:r>
          </a:p>
        </p:txBody>
      </p:sp>
      <p:sp>
        <p:nvSpPr>
          <p:cNvPr name="TextBox 16" id="16"/>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17" id="17"/>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8" id="18"/>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04</a:t>
            </a:r>
          </a:p>
        </p:txBody>
      </p:sp>
      <p:sp>
        <p:nvSpPr>
          <p:cNvPr name="TextBox 19" id="19"/>
          <p:cNvSpPr txBox="true"/>
          <p:nvPr/>
        </p:nvSpPr>
        <p:spPr>
          <a:xfrm rot="0">
            <a:off x="1605289" y="6826213"/>
            <a:ext cx="4311313" cy="187833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Lorem ipsum dolor sit amet, consectetur adipiscing elit. Donec quis erat et quam iaculis faucibus at sit amet nibh. Vestibulum dignissim lectus in ligula rhoncus, et bibendum risus dictum. Pellentesque condimentum arcu id dapibus tempor.</a:t>
            </a:r>
          </a:p>
        </p:txBody>
      </p:sp>
      <p:sp>
        <p:nvSpPr>
          <p:cNvPr name="TextBox 20" id="20"/>
          <p:cNvSpPr txBox="true"/>
          <p:nvPr/>
        </p:nvSpPr>
        <p:spPr>
          <a:xfrm rot="0">
            <a:off x="3193725" y="1245166"/>
            <a:ext cx="7573852" cy="1419224"/>
          </a:xfrm>
          <a:prstGeom prst="rect">
            <a:avLst/>
          </a:prstGeom>
        </p:spPr>
        <p:txBody>
          <a:bodyPr anchor="t" rtlCol="false" tIns="0" lIns="0" bIns="0" rIns="0">
            <a:spAutoFit/>
          </a:bodyPr>
          <a:lstStyle/>
          <a:p>
            <a:pPr algn="r">
              <a:lnSpc>
                <a:spcPts val="9749"/>
              </a:lnSpc>
            </a:pPr>
            <a:r>
              <a:rPr lang="en-US" sz="12999" spc="-1065">
                <a:solidFill>
                  <a:srgbClr val="303030"/>
                </a:solidFill>
                <a:latin typeface="TT Norms"/>
                <a:ea typeface="TT Norms"/>
                <a:cs typeface="TT Norms"/>
                <a:sym typeface="TT Norms"/>
              </a:rPr>
              <a:t>CONTENT</a:t>
            </a:r>
          </a:p>
        </p:txBody>
      </p:sp>
      <p:sp>
        <p:nvSpPr>
          <p:cNvPr name="TextBox 21" id="21"/>
          <p:cNvSpPr txBox="true"/>
          <p:nvPr/>
        </p:nvSpPr>
        <p:spPr>
          <a:xfrm rot="0">
            <a:off x="7279997" y="6826213"/>
            <a:ext cx="4311313" cy="187833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Lorem ipsum dolor sit amet, consectetur adipiscing elit. Donec quis erat et quam iaculis faucibus at sit amet nibh. Vestibulum dignissim lectus in ligula rhoncus, et bibendum risus dictum. Pellentesque condimentum arcu id dapibus tempor.</a:t>
            </a:r>
          </a:p>
        </p:txBody>
      </p:sp>
      <p:sp>
        <p:nvSpPr>
          <p:cNvPr name="TextBox 22" id="22"/>
          <p:cNvSpPr txBox="true"/>
          <p:nvPr/>
        </p:nvSpPr>
        <p:spPr>
          <a:xfrm rot="0">
            <a:off x="12954705" y="6826213"/>
            <a:ext cx="4311313" cy="187833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Lorem ipsum dolor sit amet, consectetur adipiscing elit. Donec quis erat et quam iaculis faucibus at sit amet nibh. Vestibulum dignissim lectus in ligula rhoncus, et bibendum risus dictum. Pellentesque condimentum arcu id dapibus tempor.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627747" y="1028700"/>
            <a:ext cx="4215280" cy="637263"/>
            <a:chOff x="0" y="0"/>
            <a:chExt cx="1110197" cy="167839"/>
          </a:xfrm>
        </p:grpSpPr>
        <p:sp>
          <p:nvSpPr>
            <p:cNvPr name="Freeform 6" id="6"/>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7" id="7"/>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EDUCATION</a:t>
              </a:r>
            </a:p>
          </p:txBody>
        </p:sp>
      </p:grpSp>
      <p:sp>
        <p:nvSpPr>
          <p:cNvPr name="TextBox 8" id="8"/>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9" id="9"/>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0" id="10"/>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05</a:t>
            </a:r>
          </a:p>
        </p:txBody>
      </p:sp>
      <p:sp>
        <p:nvSpPr>
          <p:cNvPr name="TextBox 11" id="11"/>
          <p:cNvSpPr txBox="true"/>
          <p:nvPr/>
        </p:nvSpPr>
        <p:spPr>
          <a:xfrm rot="0">
            <a:off x="1627747" y="2096845"/>
            <a:ext cx="4215280" cy="124968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Break down your content themes into pillars or categories that align with your business goals. These pillars will inform your content formats and style.</a:t>
            </a:r>
          </a:p>
        </p:txBody>
      </p:sp>
      <p:sp>
        <p:nvSpPr>
          <p:cNvPr name="AutoShape 12" id="12"/>
          <p:cNvSpPr/>
          <p:nvPr/>
        </p:nvSpPr>
        <p:spPr>
          <a:xfrm flipV="true">
            <a:off x="17245012" y="-330682"/>
            <a:ext cx="0" cy="9574695"/>
          </a:xfrm>
          <a:prstGeom prst="line">
            <a:avLst/>
          </a:prstGeom>
          <a:ln cap="flat" w="9525">
            <a:solidFill>
              <a:srgbClr val="303030"/>
            </a:solidFill>
            <a:prstDash val="solid"/>
            <a:headEnd type="none" len="sm" w="sm"/>
            <a:tailEnd type="none" len="sm" w="sm"/>
          </a:ln>
        </p:spPr>
      </p:sp>
      <p:sp>
        <p:nvSpPr>
          <p:cNvPr name="AutoShape 13" id="13"/>
          <p:cNvSpPr/>
          <p:nvPr/>
        </p:nvSpPr>
        <p:spPr>
          <a:xfrm flipV="true">
            <a:off x="11841162" y="-330682"/>
            <a:ext cx="0" cy="9574695"/>
          </a:xfrm>
          <a:prstGeom prst="line">
            <a:avLst/>
          </a:prstGeom>
          <a:ln cap="flat" w="9525">
            <a:solidFill>
              <a:srgbClr val="303030"/>
            </a:solidFill>
            <a:prstDash val="solid"/>
            <a:headEnd type="none" len="sm" w="sm"/>
            <a:tailEnd type="none" len="sm" w="sm"/>
          </a:ln>
        </p:spPr>
      </p:sp>
      <p:sp>
        <p:nvSpPr>
          <p:cNvPr name="AutoShape 14" id="14"/>
          <p:cNvSpPr/>
          <p:nvPr/>
        </p:nvSpPr>
        <p:spPr>
          <a:xfrm flipV="true">
            <a:off x="6437312" y="-330682"/>
            <a:ext cx="0" cy="9574695"/>
          </a:xfrm>
          <a:prstGeom prst="line">
            <a:avLst/>
          </a:prstGeom>
          <a:ln cap="flat" w="9525">
            <a:solidFill>
              <a:srgbClr val="303030"/>
            </a:solidFill>
            <a:prstDash val="solid"/>
            <a:headEnd type="none" len="sm" w="sm"/>
            <a:tailEnd type="none" len="sm" w="sm"/>
          </a:ln>
        </p:spPr>
      </p:sp>
      <p:grpSp>
        <p:nvGrpSpPr>
          <p:cNvPr name="Group 15" id="15"/>
          <p:cNvGrpSpPr/>
          <p:nvPr/>
        </p:nvGrpSpPr>
        <p:grpSpPr>
          <a:xfrm rot="0">
            <a:off x="7036360" y="1028700"/>
            <a:ext cx="4215280" cy="637263"/>
            <a:chOff x="0" y="0"/>
            <a:chExt cx="1110197" cy="167839"/>
          </a:xfrm>
        </p:grpSpPr>
        <p:sp>
          <p:nvSpPr>
            <p:cNvPr name="Freeform 16" id="16"/>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17" id="17"/>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CONNECTION</a:t>
              </a:r>
            </a:p>
          </p:txBody>
        </p:sp>
      </p:grpSp>
      <p:grpSp>
        <p:nvGrpSpPr>
          <p:cNvPr name="Group 18" id="18"/>
          <p:cNvGrpSpPr/>
          <p:nvPr/>
        </p:nvGrpSpPr>
        <p:grpSpPr>
          <a:xfrm rot="0">
            <a:off x="12444972" y="1028700"/>
            <a:ext cx="4215280" cy="637263"/>
            <a:chOff x="0" y="0"/>
            <a:chExt cx="1110197" cy="167839"/>
          </a:xfrm>
        </p:grpSpPr>
        <p:sp>
          <p:nvSpPr>
            <p:cNvPr name="Freeform 19" id="19"/>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20" id="20"/>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SALES &amp; PROMOTION</a:t>
              </a:r>
            </a:p>
          </p:txBody>
        </p:sp>
      </p:grpSp>
      <p:sp>
        <p:nvSpPr>
          <p:cNvPr name="TextBox 21" id="21"/>
          <p:cNvSpPr txBox="true"/>
          <p:nvPr/>
        </p:nvSpPr>
        <p:spPr>
          <a:xfrm rot="0">
            <a:off x="7036360" y="2096845"/>
            <a:ext cx="4215280" cy="124968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Break down your content themes into pillars or categories that align with your business goals. These pillars will inform your content formats and style.</a:t>
            </a:r>
          </a:p>
        </p:txBody>
      </p:sp>
      <p:sp>
        <p:nvSpPr>
          <p:cNvPr name="TextBox 22" id="22"/>
          <p:cNvSpPr txBox="true"/>
          <p:nvPr/>
        </p:nvSpPr>
        <p:spPr>
          <a:xfrm rot="0">
            <a:off x="12444972" y="2096845"/>
            <a:ext cx="4215280" cy="1249680"/>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Break down your content themes into pillars or categories that align with your business goals. These pillars will inform your content formats and style.</a:t>
            </a:r>
          </a:p>
        </p:txBody>
      </p:sp>
      <p:sp>
        <p:nvSpPr>
          <p:cNvPr name="AutoShape 23" id="23"/>
          <p:cNvSpPr/>
          <p:nvPr/>
        </p:nvSpPr>
        <p:spPr>
          <a:xfrm>
            <a:off x="1033462" y="3818012"/>
            <a:ext cx="16211550" cy="0"/>
          </a:xfrm>
          <a:prstGeom prst="line">
            <a:avLst/>
          </a:prstGeom>
          <a:ln cap="flat" w="9525">
            <a:solidFill>
              <a:srgbClr val="303030"/>
            </a:solidFill>
            <a:prstDash val="solid"/>
            <a:headEnd type="none" len="sm" w="sm"/>
            <a:tailEnd type="none" len="sm" w="sm"/>
          </a:ln>
        </p:spPr>
      </p:sp>
      <p:grpSp>
        <p:nvGrpSpPr>
          <p:cNvPr name="Group 24" id="24"/>
          <p:cNvGrpSpPr/>
          <p:nvPr/>
        </p:nvGrpSpPr>
        <p:grpSpPr>
          <a:xfrm rot="0">
            <a:off x="1627747" y="4504381"/>
            <a:ext cx="4215280" cy="637263"/>
            <a:chOff x="0" y="0"/>
            <a:chExt cx="1110197" cy="167839"/>
          </a:xfrm>
        </p:grpSpPr>
        <p:sp>
          <p:nvSpPr>
            <p:cNvPr name="Freeform 25" id="25"/>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6" id="26"/>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FAQS</a:t>
              </a:r>
            </a:p>
          </p:txBody>
        </p:sp>
      </p:grpSp>
      <p:grpSp>
        <p:nvGrpSpPr>
          <p:cNvPr name="Group 27" id="27"/>
          <p:cNvGrpSpPr/>
          <p:nvPr/>
        </p:nvGrpSpPr>
        <p:grpSpPr>
          <a:xfrm rot="0">
            <a:off x="1627747" y="5358381"/>
            <a:ext cx="4215280" cy="637263"/>
            <a:chOff x="0" y="0"/>
            <a:chExt cx="1110197" cy="167839"/>
          </a:xfrm>
        </p:grpSpPr>
        <p:sp>
          <p:nvSpPr>
            <p:cNvPr name="Freeform 28" id="28"/>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9" id="29"/>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TUTORIALS</a:t>
              </a:r>
            </a:p>
          </p:txBody>
        </p:sp>
      </p:grpSp>
      <p:grpSp>
        <p:nvGrpSpPr>
          <p:cNvPr name="Group 30" id="30"/>
          <p:cNvGrpSpPr/>
          <p:nvPr/>
        </p:nvGrpSpPr>
        <p:grpSpPr>
          <a:xfrm rot="0">
            <a:off x="1627747" y="6212381"/>
            <a:ext cx="4215280" cy="637263"/>
            <a:chOff x="0" y="0"/>
            <a:chExt cx="1110197" cy="167839"/>
          </a:xfrm>
        </p:grpSpPr>
        <p:sp>
          <p:nvSpPr>
            <p:cNvPr name="Freeform 31" id="31"/>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32" id="32"/>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RECOMMENDATIONS</a:t>
              </a:r>
            </a:p>
          </p:txBody>
        </p:sp>
      </p:grpSp>
      <p:grpSp>
        <p:nvGrpSpPr>
          <p:cNvPr name="Group 33" id="33"/>
          <p:cNvGrpSpPr/>
          <p:nvPr/>
        </p:nvGrpSpPr>
        <p:grpSpPr>
          <a:xfrm rot="0">
            <a:off x="1627747" y="7066381"/>
            <a:ext cx="4215280" cy="637263"/>
            <a:chOff x="0" y="0"/>
            <a:chExt cx="1110197" cy="167839"/>
          </a:xfrm>
        </p:grpSpPr>
        <p:sp>
          <p:nvSpPr>
            <p:cNvPr name="Freeform 34" id="34"/>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35" id="35"/>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BEHIND THE SCENES</a:t>
              </a:r>
            </a:p>
          </p:txBody>
        </p:sp>
      </p:grpSp>
      <p:grpSp>
        <p:nvGrpSpPr>
          <p:cNvPr name="Group 36" id="36"/>
          <p:cNvGrpSpPr/>
          <p:nvPr/>
        </p:nvGrpSpPr>
        <p:grpSpPr>
          <a:xfrm rot="0">
            <a:off x="1627747" y="7920381"/>
            <a:ext cx="4215280" cy="637263"/>
            <a:chOff x="0" y="0"/>
            <a:chExt cx="1110197" cy="167839"/>
          </a:xfrm>
        </p:grpSpPr>
        <p:sp>
          <p:nvSpPr>
            <p:cNvPr name="Freeform 37" id="37"/>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38" id="38"/>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DEFINTIONS</a:t>
              </a:r>
            </a:p>
          </p:txBody>
        </p:sp>
      </p:grpSp>
      <p:grpSp>
        <p:nvGrpSpPr>
          <p:cNvPr name="Group 39" id="39"/>
          <p:cNvGrpSpPr/>
          <p:nvPr/>
        </p:nvGrpSpPr>
        <p:grpSpPr>
          <a:xfrm rot="0">
            <a:off x="7032625" y="4504381"/>
            <a:ext cx="4215280" cy="637263"/>
            <a:chOff x="0" y="0"/>
            <a:chExt cx="1110197" cy="167839"/>
          </a:xfrm>
        </p:grpSpPr>
        <p:sp>
          <p:nvSpPr>
            <p:cNvPr name="Freeform 40" id="40"/>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41" id="41"/>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ONE</a:t>
              </a:r>
            </a:p>
          </p:txBody>
        </p:sp>
      </p:grpSp>
      <p:grpSp>
        <p:nvGrpSpPr>
          <p:cNvPr name="Group 42" id="42"/>
          <p:cNvGrpSpPr/>
          <p:nvPr/>
        </p:nvGrpSpPr>
        <p:grpSpPr>
          <a:xfrm rot="0">
            <a:off x="7032625" y="5358381"/>
            <a:ext cx="4215280" cy="637263"/>
            <a:chOff x="0" y="0"/>
            <a:chExt cx="1110197" cy="167839"/>
          </a:xfrm>
        </p:grpSpPr>
        <p:sp>
          <p:nvSpPr>
            <p:cNvPr name="Freeform 43" id="43"/>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44" id="44"/>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TWO</a:t>
              </a:r>
            </a:p>
          </p:txBody>
        </p:sp>
      </p:grpSp>
      <p:grpSp>
        <p:nvGrpSpPr>
          <p:cNvPr name="Group 45" id="45"/>
          <p:cNvGrpSpPr/>
          <p:nvPr/>
        </p:nvGrpSpPr>
        <p:grpSpPr>
          <a:xfrm rot="0">
            <a:off x="7032625" y="6212381"/>
            <a:ext cx="4215280" cy="637263"/>
            <a:chOff x="0" y="0"/>
            <a:chExt cx="1110197" cy="167839"/>
          </a:xfrm>
        </p:grpSpPr>
        <p:sp>
          <p:nvSpPr>
            <p:cNvPr name="Freeform 46" id="46"/>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47" id="47"/>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THREE</a:t>
              </a:r>
            </a:p>
          </p:txBody>
        </p:sp>
      </p:grpSp>
      <p:grpSp>
        <p:nvGrpSpPr>
          <p:cNvPr name="Group 48" id="48"/>
          <p:cNvGrpSpPr/>
          <p:nvPr/>
        </p:nvGrpSpPr>
        <p:grpSpPr>
          <a:xfrm rot="0">
            <a:off x="7032625" y="7066381"/>
            <a:ext cx="4215280" cy="637263"/>
            <a:chOff x="0" y="0"/>
            <a:chExt cx="1110197" cy="167839"/>
          </a:xfrm>
        </p:grpSpPr>
        <p:sp>
          <p:nvSpPr>
            <p:cNvPr name="Freeform 49" id="49"/>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50" id="50"/>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FOUR</a:t>
              </a:r>
            </a:p>
          </p:txBody>
        </p:sp>
      </p:grpSp>
      <p:grpSp>
        <p:nvGrpSpPr>
          <p:cNvPr name="Group 51" id="51"/>
          <p:cNvGrpSpPr/>
          <p:nvPr/>
        </p:nvGrpSpPr>
        <p:grpSpPr>
          <a:xfrm rot="0">
            <a:off x="7032625" y="7920381"/>
            <a:ext cx="4215280" cy="637263"/>
            <a:chOff x="0" y="0"/>
            <a:chExt cx="1110197" cy="167839"/>
          </a:xfrm>
        </p:grpSpPr>
        <p:sp>
          <p:nvSpPr>
            <p:cNvPr name="Freeform 52" id="52"/>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53" id="53"/>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FIVE</a:t>
              </a:r>
            </a:p>
          </p:txBody>
        </p:sp>
      </p:grpSp>
      <p:grpSp>
        <p:nvGrpSpPr>
          <p:cNvPr name="Group 54" id="54"/>
          <p:cNvGrpSpPr/>
          <p:nvPr/>
        </p:nvGrpSpPr>
        <p:grpSpPr>
          <a:xfrm rot="0">
            <a:off x="12436475" y="4504381"/>
            <a:ext cx="4215280" cy="637263"/>
            <a:chOff x="0" y="0"/>
            <a:chExt cx="1110197" cy="167839"/>
          </a:xfrm>
        </p:grpSpPr>
        <p:sp>
          <p:nvSpPr>
            <p:cNvPr name="Freeform 55" id="55"/>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56" id="56"/>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ONE</a:t>
              </a:r>
            </a:p>
          </p:txBody>
        </p:sp>
      </p:grpSp>
      <p:grpSp>
        <p:nvGrpSpPr>
          <p:cNvPr name="Group 57" id="57"/>
          <p:cNvGrpSpPr/>
          <p:nvPr/>
        </p:nvGrpSpPr>
        <p:grpSpPr>
          <a:xfrm rot="0">
            <a:off x="12436475" y="5358381"/>
            <a:ext cx="4215280" cy="637263"/>
            <a:chOff x="0" y="0"/>
            <a:chExt cx="1110197" cy="167839"/>
          </a:xfrm>
        </p:grpSpPr>
        <p:sp>
          <p:nvSpPr>
            <p:cNvPr name="Freeform 58" id="58"/>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59" id="59"/>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TWO</a:t>
              </a:r>
            </a:p>
          </p:txBody>
        </p:sp>
      </p:grpSp>
      <p:grpSp>
        <p:nvGrpSpPr>
          <p:cNvPr name="Group 60" id="60"/>
          <p:cNvGrpSpPr/>
          <p:nvPr/>
        </p:nvGrpSpPr>
        <p:grpSpPr>
          <a:xfrm rot="0">
            <a:off x="12436475" y="6212381"/>
            <a:ext cx="4215280" cy="637263"/>
            <a:chOff x="0" y="0"/>
            <a:chExt cx="1110197" cy="167839"/>
          </a:xfrm>
        </p:grpSpPr>
        <p:sp>
          <p:nvSpPr>
            <p:cNvPr name="Freeform 61" id="61"/>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62" id="62"/>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THREE</a:t>
              </a:r>
            </a:p>
          </p:txBody>
        </p:sp>
      </p:grpSp>
      <p:grpSp>
        <p:nvGrpSpPr>
          <p:cNvPr name="Group 63" id="63"/>
          <p:cNvGrpSpPr/>
          <p:nvPr/>
        </p:nvGrpSpPr>
        <p:grpSpPr>
          <a:xfrm rot="0">
            <a:off x="12436475" y="7066381"/>
            <a:ext cx="4215280" cy="637263"/>
            <a:chOff x="0" y="0"/>
            <a:chExt cx="1110197" cy="167839"/>
          </a:xfrm>
        </p:grpSpPr>
        <p:sp>
          <p:nvSpPr>
            <p:cNvPr name="Freeform 64" id="64"/>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65" id="65"/>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FOUR</a:t>
              </a:r>
            </a:p>
          </p:txBody>
        </p:sp>
      </p:grpSp>
      <p:grpSp>
        <p:nvGrpSpPr>
          <p:cNvPr name="Group 66" id="66"/>
          <p:cNvGrpSpPr/>
          <p:nvPr/>
        </p:nvGrpSpPr>
        <p:grpSpPr>
          <a:xfrm rot="0">
            <a:off x="12436475" y="7920381"/>
            <a:ext cx="4215280" cy="637263"/>
            <a:chOff x="0" y="0"/>
            <a:chExt cx="1110197" cy="167839"/>
          </a:xfrm>
        </p:grpSpPr>
        <p:sp>
          <p:nvSpPr>
            <p:cNvPr name="Freeform 67" id="67"/>
            <p:cNvSpPr/>
            <p:nvPr/>
          </p:nvSpPr>
          <p:spPr>
            <a:xfrm flipH="false" flipV="false" rot="0">
              <a:off x="0" y="0"/>
              <a:ext cx="1110197" cy="167839"/>
            </a:xfrm>
            <a:custGeom>
              <a:avLst/>
              <a:gdLst/>
              <a:ahLst/>
              <a:cxnLst/>
              <a:rect r="r" b="b" t="t" l="l"/>
              <a:pathLst>
                <a:path h="167839" w="1110197">
                  <a:moveTo>
                    <a:pt x="83919" y="0"/>
                  </a:moveTo>
                  <a:lnTo>
                    <a:pt x="1026278" y="0"/>
                  </a:lnTo>
                  <a:cubicBezTo>
                    <a:pt x="1072625" y="0"/>
                    <a:pt x="1110197" y="37572"/>
                    <a:pt x="1110197" y="83919"/>
                  </a:cubicBezTo>
                  <a:lnTo>
                    <a:pt x="1110197" y="83919"/>
                  </a:lnTo>
                  <a:cubicBezTo>
                    <a:pt x="1110197" y="130267"/>
                    <a:pt x="1072625" y="167839"/>
                    <a:pt x="1026278"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68" id="68"/>
            <p:cNvSpPr txBox="true"/>
            <p:nvPr/>
          </p:nvSpPr>
          <p:spPr>
            <a:xfrm>
              <a:off x="0" y="-47625"/>
              <a:ext cx="111019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PILLAR FIVE</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5" id="5"/>
          <p:cNvGraphicFramePr>
            <a:graphicFrameLocks noGrp="true"/>
          </p:cNvGraphicFramePr>
          <p:nvPr/>
        </p:nvGraphicFramePr>
        <p:xfrm>
          <a:off x="1598572" y="3743829"/>
          <a:ext cx="15660728" cy="5038725"/>
        </p:xfrm>
        <a:graphic>
          <a:graphicData uri="http://schemas.openxmlformats.org/drawingml/2006/table">
            <a:tbl>
              <a:tblPr/>
              <a:tblGrid>
                <a:gridCol w="4192739"/>
                <a:gridCol w="1564601"/>
                <a:gridCol w="1564601"/>
                <a:gridCol w="1534513"/>
                <a:gridCol w="2758112"/>
                <a:gridCol w="2029564"/>
                <a:gridCol w="2016598"/>
              </a:tblGrid>
              <a:tr h="839788">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CAROUSEL POST</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YES</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YES</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39788">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INFOGRAPHIC</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2</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NO</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YES</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39788">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BLOG POST</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NO</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YES</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39788">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TUTORIAL</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NO</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YES</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39788">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IMAGE POST</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2</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YES</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NO</a:t>
                      </a: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39788">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190500" marR="190500" marT="190500" marB="190500"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bl>
          </a:graphicData>
        </a:graphic>
      </p:graphicFrame>
      <p:grpSp>
        <p:nvGrpSpPr>
          <p:cNvPr name="Group 6" id="6"/>
          <p:cNvGrpSpPr/>
          <p:nvPr/>
        </p:nvGrpSpPr>
        <p:grpSpPr>
          <a:xfrm rot="0">
            <a:off x="1598572" y="2843666"/>
            <a:ext cx="4039037" cy="637263"/>
            <a:chOff x="0" y="0"/>
            <a:chExt cx="1063779" cy="167839"/>
          </a:xfrm>
        </p:grpSpPr>
        <p:sp>
          <p:nvSpPr>
            <p:cNvPr name="Freeform 7" id="7"/>
            <p:cNvSpPr/>
            <p:nvPr/>
          </p:nvSpPr>
          <p:spPr>
            <a:xfrm flipH="false" flipV="false" rot="0">
              <a:off x="0" y="0"/>
              <a:ext cx="1063779" cy="167839"/>
            </a:xfrm>
            <a:custGeom>
              <a:avLst/>
              <a:gdLst/>
              <a:ahLst/>
              <a:cxnLst/>
              <a:rect r="r" b="b" t="t" l="l"/>
              <a:pathLst>
                <a:path h="167839" w="1063779">
                  <a:moveTo>
                    <a:pt x="83919" y="0"/>
                  </a:moveTo>
                  <a:lnTo>
                    <a:pt x="979860" y="0"/>
                  </a:lnTo>
                  <a:cubicBezTo>
                    <a:pt x="1002117" y="0"/>
                    <a:pt x="1023462" y="8841"/>
                    <a:pt x="1039200" y="24579"/>
                  </a:cubicBezTo>
                  <a:cubicBezTo>
                    <a:pt x="1054938" y="40317"/>
                    <a:pt x="1063779" y="61663"/>
                    <a:pt x="1063779" y="83919"/>
                  </a:cubicBezTo>
                  <a:lnTo>
                    <a:pt x="1063779" y="83919"/>
                  </a:lnTo>
                  <a:cubicBezTo>
                    <a:pt x="1063779" y="130267"/>
                    <a:pt x="1026207" y="167839"/>
                    <a:pt x="979860"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8" id="8"/>
            <p:cNvSpPr txBox="true"/>
            <p:nvPr/>
          </p:nvSpPr>
          <p:spPr>
            <a:xfrm>
              <a:off x="0" y="-47625"/>
              <a:ext cx="1063779"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TYPE</a:t>
              </a:r>
            </a:p>
          </p:txBody>
        </p:sp>
      </p:grpSp>
      <p:grpSp>
        <p:nvGrpSpPr>
          <p:cNvPr name="Group 9" id="9"/>
          <p:cNvGrpSpPr/>
          <p:nvPr/>
        </p:nvGrpSpPr>
        <p:grpSpPr>
          <a:xfrm rot="0">
            <a:off x="5932884" y="2843666"/>
            <a:ext cx="1294511" cy="637263"/>
            <a:chOff x="0" y="0"/>
            <a:chExt cx="340941" cy="167839"/>
          </a:xfrm>
        </p:grpSpPr>
        <p:sp>
          <p:nvSpPr>
            <p:cNvPr name="Freeform 10" id="10"/>
            <p:cNvSpPr/>
            <p:nvPr/>
          </p:nvSpPr>
          <p:spPr>
            <a:xfrm flipH="false" flipV="false" rot="0">
              <a:off x="0" y="0"/>
              <a:ext cx="340941" cy="167839"/>
            </a:xfrm>
            <a:custGeom>
              <a:avLst/>
              <a:gdLst/>
              <a:ahLst/>
              <a:cxnLst/>
              <a:rect r="r" b="b" t="t" l="l"/>
              <a:pathLst>
                <a:path h="167839" w="340941">
                  <a:moveTo>
                    <a:pt x="83919" y="0"/>
                  </a:moveTo>
                  <a:lnTo>
                    <a:pt x="257022" y="0"/>
                  </a:lnTo>
                  <a:cubicBezTo>
                    <a:pt x="303369" y="0"/>
                    <a:pt x="340941" y="37572"/>
                    <a:pt x="340941" y="83919"/>
                  </a:cubicBezTo>
                  <a:lnTo>
                    <a:pt x="340941" y="83919"/>
                  </a:lnTo>
                  <a:cubicBezTo>
                    <a:pt x="340941" y="130267"/>
                    <a:pt x="303369" y="167839"/>
                    <a:pt x="257022"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11" id="11"/>
            <p:cNvSpPr txBox="true"/>
            <p:nvPr/>
          </p:nvSpPr>
          <p:spPr>
            <a:xfrm>
              <a:off x="0" y="-47625"/>
              <a:ext cx="34094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IMAGE</a:t>
              </a:r>
            </a:p>
          </p:txBody>
        </p:sp>
      </p:grpSp>
      <p:grpSp>
        <p:nvGrpSpPr>
          <p:cNvPr name="Group 12" id="12"/>
          <p:cNvGrpSpPr/>
          <p:nvPr/>
        </p:nvGrpSpPr>
        <p:grpSpPr>
          <a:xfrm rot="0">
            <a:off x="7503620" y="2843666"/>
            <a:ext cx="1294511" cy="637263"/>
            <a:chOff x="0" y="0"/>
            <a:chExt cx="340941" cy="167839"/>
          </a:xfrm>
        </p:grpSpPr>
        <p:sp>
          <p:nvSpPr>
            <p:cNvPr name="Freeform 13" id="13"/>
            <p:cNvSpPr/>
            <p:nvPr/>
          </p:nvSpPr>
          <p:spPr>
            <a:xfrm flipH="false" flipV="false" rot="0">
              <a:off x="0" y="0"/>
              <a:ext cx="340941" cy="167839"/>
            </a:xfrm>
            <a:custGeom>
              <a:avLst/>
              <a:gdLst/>
              <a:ahLst/>
              <a:cxnLst/>
              <a:rect r="r" b="b" t="t" l="l"/>
              <a:pathLst>
                <a:path h="167839" w="340941">
                  <a:moveTo>
                    <a:pt x="83919" y="0"/>
                  </a:moveTo>
                  <a:lnTo>
                    <a:pt x="257022" y="0"/>
                  </a:lnTo>
                  <a:cubicBezTo>
                    <a:pt x="303369" y="0"/>
                    <a:pt x="340941" y="37572"/>
                    <a:pt x="340941" y="83919"/>
                  </a:cubicBezTo>
                  <a:lnTo>
                    <a:pt x="340941" y="83919"/>
                  </a:lnTo>
                  <a:cubicBezTo>
                    <a:pt x="340941" y="130267"/>
                    <a:pt x="303369" y="167839"/>
                    <a:pt x="257022"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14" id="14"/>
            <p:cNvSpPr txBox="true"/>
            <p:nvPr/>
          </p:nvSpPr>
          <p:spPr>
            <a:xfrm>
              <a:off x="0" y="-47625"/>
              <a:ext cx="34094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VIDEO</a:t>
              </a:r>
            </a:p>
          </p:txBody>
        </p:sp>
      </p:grpSp>
      <p:grpSp>
        <p:nvGrpSpPr>
          <p:cNvPr name="Group 15" id="15"/>
          <p:cNvGrpSpPr/>
          <p:nvPr/>
        </p:nvGrpSpPr>
        <p:grpSpPr>
          <a:xfrm rot="0">
            <a:off x="10587942" y="2843666"/>
            <a:ext cx="2486689" cy="637263"/>
            <a:chOff x="0" y="0"/>
            <a:chExt cx="654931" cy="167839"/>
          </a:xfrm>
        </p:grpSpPr>
        <p:sp>
          <p:nvSpPr>
            <p:cNvPr name="Freeform 16" id="16"/>
            <p:cNvSpPr/>
            <p:nvPr/>
          </p:nvSpPr>
          <p:spPr>
            <a:xfrm flipH="false" flipV="false" rot="0">
              <a:off x="0" y="0"/>
              <a:ext cx="654931" cy="167839"/>
            </a:xfrm>
            <a:custGeom>
              <a:avLst/>
              <a:gdLst/>
              <a:ahLst/>
              <a:cxnLst/>
              <a:rect r="r" b="b" t="t" l="l"/>
              <a:pathLst>
                <a:path h="167839" w="654931">
                  <a:moveTo>
                    <a:pt x="83919" y="0"/>
                  </a:moveTo>
                  <a:lnTo>
                    <a:pt x="571011" y="0"/>
                  </a:lnTo>
                  <a:cubicBezTo>
                    <a:pt x="617358" y="0"/>
                    <a:pt x="654931" y="37572"/>
                    <a:pt x="654931" y="83919"/>
                  </a:cubicBezTo>
                  <a:lnTo>
                    <a:pt x="654931" y="83919"/>
                  </a:lnTo>
                  <a:cubicBezTo>
                    <a:pt x="654931" y="130267"/>
                    <a:pt x="617358" y="167839"/>
                    <a:pt x="571011"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17" id="17"/>
            <p:cNvSpPr txBox="true"/>
            <p:nvPr/>
          </p:nvSpPr>
          <p:spPr>
            <a:xfrm>
              <a:off x="0" y="-47625"/>
              <a:ext cx="65493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PLATFORMS</a:t>
              </a:r>
            </a:p>
          </p:txBody>
        </p:sp>
      </p:grpSp>
      <p:grpSp>
        <p:nvGrpSpPr>
          <p:cNvPr name="Group 18" id="18"/>
          <p:cNvGrpSpPr/>
          <p:nvPr/>
        </p:nvGrpSpPr>
        <p:grpSpPr>
          <a:xfrm rot="0">
            <a:off x="13341332" y="2843666"/>
            <a:ext cx="1774441" cy="637263"/>
            <a:chOff x="0" y="0"/>
            <a:chExt cx="467343" cy="167839"/>
          </a:xfrm>
        </p:grpSpPr>
        <p:sp>
          <p:nvSpPr>
            <p:cNvPr name="Freeform 19" id="19"/>
            <p:cNvSpPr/>
            <p:nvPr/>
          </p:nvSpPr>
          <p:spPr>
            <a:xfrm flipH="false" flipV="false" rot="0">
              <a:off x="0" y="0"/>
              <a:ext cx="467343" cy="167839"/>
            </a:xfrm>
            <a:custGeom>
              <a:avLst/>
              <a:gdLst/>
              <a:ahLst/>
              <a:cxnLst/>
              <a:rect r="r" b="b" t="t" l="l"/>
              <a:pathLst>
                <a:path h="167839" w="467343">
                  <a:moveTo>
                    <a:pt x="83919" y="0"/>
                  </a:moveTo>
                  <a:lnTo>
                    <a:pt x="383423" y="0"/>
                  </a:lnTo>
                  <a:cubicBezTo>
                    <a:pt x="429771" y="0"/>
                    <a:pt x="467343" y="37572"/>
                    <a:pt x="467343" y="83919"/>
                  </a:cubicBezTo>
                  <a:lnTo>
                    <a:pt x="467343" y="83919"/>
                  </a:lnTo>
                  <a:cubicBezTo>
                    <a:pt x="467343" y="130267"/>
                    <a:pt x="429771" y="167839"/>
                    <a:pt x="383423"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0" id="20"/>
            <p:cNvSpPr txBox="true"/>
            <p:nvPr/>
          </p:nvSpPr>
          <p:spPr>
            <a:xfrm>
              <a:off x="0" y="-47625"/>
              <a:ext cx="467343"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PAID</a:t>
              </a:r>
            </a:p>
          </p:txBody>
        </p:sp>
      </p:grpSp>
      <p:grpSp>
        <p:nvGrpSpPr>
          <p:cNvPr name="Group 21" id="21"/>
          <p:cNvGrpSpPr/>
          <p:nvPr/>
        </p:nvGrpSpPr>
        <p:grpSpPr>
          <a:xfrm rot="0">
            <a:off x="15378486" y="2843666"/>
            <a:ext cx="1774441" cy="637263"/>
            <a:chOff x="0" y="0"/>
            <a:chExt cx="467343" cy="167839"/>
          </a:xfrm>
        </p:grpSpPr>
        <p:sp>
          <p:nvSpPr>
            <p:cNvPr name="Freeform 22" id="22"/>
            <p:cNvSpPr/>
            <p:nvPr/>
          </p:nvSpPr>
          <p:spPr>
            <a:xfrm flipH="false" flipV="false" rot="0">
              <a:off x="0" y="0"/>
              <a:ext cx="467343" cy="167839"/>
            </a:xfrm>
            <a:custGeom>
              <a:avLst/>
              <a:gdLst/>
              <a:ahLst/>
              <a:cxnLst/>
              <a:rect r="r" b="b" t="t" l="l"/>
              <a:pathLst>
                <a:path h="167839" w="467343">
                  <a:moveTo>
                    <a:pt x="83919" y="0"/>
                  </a:moveTo>
                  <a:lnTo>
                    <a:pt x="383423" y="0"/>
                  </a:lnTo>
                  <a:cubicBezTo>
                    <a:pt x="429771" y="0"/>
                    <a:pt x="467343" y="37572"/>
                    <a:pt x="467343" y="83919"/>
                  </a:cubicBezTo>
                  <a:lnTo>
                    <a:pt x="467343" y="83919"/>
                  </a:lnTo>
                  <a:cubicBezTo>
                    <a:pt x="467343" y="130267"/>
                    <a:pt x="429771" y="167839"/>
                    <a:pt x="383423"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3" id="23"/>
            <p:cNvSpPr txBox="true"/>
            <p:nvPr/>
          </p:nvSpPr>
          <p:spPr>
            <a:xfrm>
              <a:off x="0" y="-47625"/>
              <a:ext cx="467343"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ORGANIC</a:t>
              </a:r>
            </a:p>
          </p:txBody>
        </p:sp>
      </p:grpSp>
      <p:grpSp>
        <p:nvGrpSpPr>
          <p:cNvPr name="Group 24" id="24"/>
          <p:cNvGrpSpPr/>
          <p:nvPr/>
        </p:nvGrpSpPr>
        <p:grpSpPr>
          <a:xfrm rot="0">
            <a:off x="9026731" y="2843666"/>
            <a:ext cx="1294511" cy="637263"/>
            <a:chOff x="0" y="0"/>
            <a:chExt cx="340941" cy="167839"/>
          </a:xfrm>
        </p:grpSpPr>
        <p:sp>
          <p:nvSpPr>
            <p:cNvPr name="Freeform 25" id="25"/>
            <p:cNvSpPr/>
            <p:nvPr/>
          </p:nvSpPr>
          <p:spPr>
            <a:xfrm flipH="false" flipV="false" rot="0">
              <a:off x="0" y="0"/>
              <a:ext cx="340941" cy="167839"/>
            </a:xfrm>
            <a:custGeom>
              <a:avLst/>
              <a:gdLst/>
              <a:ahLst/>
              <a:cxnLst/>
              <a:rect r="r" b="b" t="t" l="l"/>
              <a:pathLst>
                <a:path h="167839" w="340941">
                  <a:moveTo>
                    <a:pt x="83919" y="0"/>
                  </a:moveTo>
                  <a:lnTo>
                    <a:pt x="257022" y="0"/>
                  </a:lnTo>
                  <a:cubicBezTo>
                    <a:pt x="303369" y="0"/>
                    <a:pt x="340941" y="37572"/>
                    <a:pt x="340941" y="83919"/>
                  </a:cubicBezTo>
                  <a:lnTo>
                    <a:pt x="340941" y="83919"/>
                  </a:lnTo>
                  <a:cubicBezTo>
                    <a:pt x="340941" y="130267"/>
                    <a:pt x="303369" y="167839"/>
                    <a:pt x="257022"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6" id="26"/>
            <p:cNvSpPr txBox="true"/>
            <p:nvPr/>
          </p:nvSpPr>
          <p:spPr>
            <a:xfrm>
              <a:off x="0" y="-47625"/>
              <a:ext cx="34094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TEXT</a:t>
              </a:r>
            </a:p>
          </p:txBody>
        </p:sp>
      </p:grpSp>
      <p:grpSp>
        <p:nvGrpSpPr>
          <p:cNvPr name="Group 27" id="27"/>
          <p:cNvGrpSpPr/>
          <p:nvPr/>
        </p:nvGrpSpPr>
        <p:grpSpPr>
          <a:xfrm rot="0">
            <a:off x="6396361" y="3984295"/>
            <a:ext cx="367556" cy="36755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30" id="30"/>
          <p:cNvGrpSpPr/>
          <p:nvPr/>
        </p:nvGrpSpPr>
        <p:grpSpPr>
          <a:xfrm rot="0">
            <a:off x="6396361" y="4822386"/>
            <a:ext cx="367556" cy="36755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33" id="33"/>
          <p:cNvGrpSpPr/>
          <p:nvPr/>
        </p:nvGrpSpPr>
        <p:grpSpPr>
          <a:xfrm rot="0">
            <a:off x="6396361" y="5660476"/>
            <a:ext cx="367556" cy="36755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36" id="36"/>
          <p:cNvGrpSpPr/>
          <p:nvPr/>
        </p:nvGrpSpPr>
        <p:grpSpPr>
          <a:xfrm rot="0">
            <a:off x="6396361" y="6498567"/>
            <a:ext cx="367556" cy="367556"/>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39" id="39"/>
          <p:cNvGrpSpPr/>
          <p:nvPr/>
        </p:nvGrpSpPr>
        <p:grpSpPr>
          <a:xfrm rot="0">
            <a:off x="6396361" y="7336658"/>
            <a:ext cx="367556" cy="36755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41" id="41"/>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42" id="42"/>
          <p:cNvGrpSpPr/>
          <p:nvPr/>
        </p:nvGrpSpPr>
        <p:grpSpPr>
          <a:xfrm rot="0">
            <a:off x="6396361" y="8174748"/>
            <a:ext cx="367556" cy="367556"/>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44" id="44"/>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45" id="45"/>
          <p:cNvGrpSpPr/>
          <p:nvPr/>
        </p:nvGrpSpPr>
        <p:grpSpPr>
          <a:xfrm rot="0">
            <a:off x="7967098" y="3984295"/>
            <a:ext cx="367556" cy="36755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47" id="47"/>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48" id="48"/>
          <p:cNvGrpSpPr/>
          <p:nvPr/>
        </p:nvGrpSpPr>
        <p:grpSpPr>
          <a:xfrm rot="0">
            <a:off x="7967098" y="4822386"/>
            <a:ext cx="367556" cy="367556"/>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50" id="50"/>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51" id="51"/>
          <p:cNvGrpSpPr/>
          <p:nvPr/>
        </p:nvGrpSpPr>
        <p:grpSpPr>
          <a:xfrm rot="0">
            <a:off x="7967098" y="5660476"/>
            <a:ext cx="367556" cy="367556"/>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53" id="53"/>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54" id="54"/>
          <p:cNvGrpSpPr/>
          <p:nvPr/>
        </p:nvGrpSpPr>
        <p:grpSpPr>
          <a:xfrm rot="0">
            <a:off x="7967098" y="6498567"/>
            <a:ext cx="367556" cy="367556"/>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56" id="56"/>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57" id="57"/>
          <p:cNvGrpSpPr/>
          <p:nvPr/>
        </p:nvGrpSpPr>
        <p:grpSpPr>
          <a:xfrm rot="0">
            <a:off x="7967098" y="7336658"/>
            <a:ext cx="367556" cy="367556"/>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59" id="59"/>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60" id="60"/>
          <p:cNvGrpSpPr/>
          <p:nvPr/>
        </p:nvGrpSpPr>
        <p:grpSpPr>
          <a:xfrm rot="0">
            <a:off x="7967098" y="8174748"/>
            <a:ext cx="367556" cy="367556"/>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62" id="62"/>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63" id="63"/>
          <p:cNvGrpSpPr/>
          <p:nvPr/>
        </p:nvGrpSpPr>
        <p:grpSpPr>
          <a:xfrm rot="0">
            <a:off x="9490209" y="3984295"/>
            <a:ext cx="367556" cy="367556"/>
            <a:chOff x="0" y="0"/>
            <a:chExt cx="812800" cy="812800"/>
          </a:xfrm>
        </p:grpSpPr>
        <p:sp>
          <p:nvSpPr>
            <p:cNvPr name="Freeform 64" id="6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65" id="65"/>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66" id="66"/>
          <p:cNvGrpSpPr/>
          <p:nvPr/>
        </p:nvGrpSpPr>
        <p:grpSpPr>
          <a:xfrm rot="0">
            <a:off x="9490209" y="4822386"/>
            <a:ext cx="367556" cy="367556"/>
            <a:chOff x="0" y="0"/>
            <a:chExt cx="812800" cy="812800"/>
          </a:xfrm>
        </p:grpSpPr>
        <p:sp>
          <p:nvSpPr>
            <p:cNvPr name="Freeform 67" id="6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68" id="68"/>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69" id="69"/>
          <p:cNvGrpSpPr/>
          <p:nvPr/>
        </p:nvGrpSpPr>
        <p:grpSpPr>
          <a:xfrm rot="0">
            <a:off x="9490209" y="5660476"/>
            <a:ext cx="367556" cy="367556"/>
            <a:chOff x="0" y="0"/>
            <a:chExt cx="812800" cy="812800"/>
          </a:xfrm>
        </p:grpSpPr>
        <p:sp>
          <p:nvSpPr>
            <p:cNvPr name="Freeform 70" id="7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8F7B"/>
            </a:solidFill>
            <a:ln w="9525" cap="sq">
              <a:solidFill>
                <a:srgbClr val="303030"/>
              </a:solidFill>
              <a:prstDash val="solid"/>
              <a:miter/>
            </a:ln>
          </p:spPr>
        </p:sp>
        <p:sp>
          <p:nvSpPr>
            <p:cNvPr name="TextBox 71" id="71"/>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72" id="72"/>
          <p:cNvGrpSpPr/>
          <p:nvPr/>
        </p:nvGrpSpPr>
        <p:grpSpPr>
          <a:xfrm rot="0">
            <a:off x="9490209" y="6498567"/>
            <a:ext cx="367556" cy="367556"/>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74" id="74"/>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75" id="75"/>
          <p:cNvGrpSpPr/>
          <p:nvPr/>
        </p:nvGrpSpPr>
        <p:grpSpPr>
          <a:xfrm rot="0">
            <a:off x="9490209" y="7336658"/>
            <a:ext cx="367556" cy="367556"/>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77" id="77"/>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grpSp>
        <p:nvGrpSpPr>
          <p:cNvPr name="Group 78" id="78"/>
          <p:cNvGrpSpPr/>
          <p:nvPr/>
        </p:nvGrpSpPr>
        <p:grpSpPr>
          <a:xfrm rot="0">
            <a:off x="9490209" y="8174748"/>
            <a:ext cx="367556" cy="367556"/>
            <a:chOff x="0" y="0"/>
            <a:chExt cx="812800" cy="812800"/>
          </a:xfrm>
        </p:grpSpPr>
        <p:sp>
          <p:nvSpPr>
            <p:cNvPr name="Freeform 79" id="7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 cap="sq">
              <a:solidFill>
                <a:srgbClr val="303030"/>
              </a:solidFill>
              <a:prstDash val="solid"/>
              <a:miter/>
            </a:ln>
          </p:spPr>
        </p:sp>
        <p:sp>
          <p:nvSpPr>
            <p:cNvPr name="TextBox 80" id="80"/>
            <p:cNvSpPr txBox="true"/>
            <p:nvPr/>
          </p:nvSpPr>
          <p:spPr>
            <a:xfrm>
              <a:off x="76200" y="28575"/>
              <a:ext cx="660400" cy="708025"/>
            </a:xfrm>
            <a:prstGeom prst="rect">
              <a:avLst/>
            </a:prstGeom>
          </p:spPr>
          <p:txBody>
            <a:bodyPr anchor="ctr" rtlCol="false" tIns="50800" lIns="50800" bIns="50800" rIns="50800"/>
            <a:lstStyle/>
            <a:p>
              <a:pPr algn="ctr">
                <a:lnSpc>
                  <a:spcPts val="2940"/>
                </a:lnSpc>
              </a:pPr>
            </a:p>
          </p:txBody>
        </p:sp>
      </p:grpSp>
      <p:sp>
        <p:nvSpPr>
          <p:cNvPr name="Freeform 81" id="81"/>
          <p:cNvSpPr/>
          <p:nvPr/>
        </p:nvSpPr>
        <p:spPr>
          <a:xfrm flipH="false" flipV="false" rot="0">
            <a:off x="15719664" y="1028700"/>
            <a:ext cx="1546353" cy="1180851"/>
          </a:xfrm>
          <a:custGeom>
            <a:avLst/>
            <a:gdLst/>
            <a:ahLst/>
            <a:cxnLst/>
            <a:rect r="r" b="b" t="t" l="l"/>
            <a:pathLst>
              <a:path h="1180851" w="1546353">
                <a:moveTo>
                  <a:pt x="0" y="0"/>
                </a:moveTo>
                <a:lnTo>
                  <a:pt x="1546354" y="0"/>
                </a:lnTo>
                <a:lnTo>
                  <a:pt x="1546354" y="1180851"/>
                </a:lnTo>
                <a:lnTo>
                  <a:pt x="0" y="11808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2" id="82"/>
          <p:cNvSpPr txBox="true"/>
          <p:nvPr/>
        </p:nvSpPr>
        <p:spPr>
          <a:xfrm rot="0">
            <a:off x="8814997" y="1256792"/>
            <a:ext cx="6932068" cy="1419224"/>
          </a:xfrm>
          <a:prstGeom prst="rect">
            <a:avLst/>
          </a:prstGeom>
        </p:spPr>
        <p:txBody>
          <a:bodyPr anchor="t" rtlCol="false" tIns="0" lIns="0" bIns="0" rIns="0">
            <a:spAutoFit/>
          </a:bodyPr>
          <a:lstStyle/>
          <a:p>
            <a:pPr algn="l">
              <a:lnSpc>
                <a:spcPts val="9749"/>
              </a:lnSpc>
            </a:pPr>
            <a:r>
              <a:rPr lang="en-US" b="true" sz="12999" spc="-1065">
                <a:solidFill>
                  <a:srgbClr val="303030"/>
                </a:solidFill>
                <a:latin typeface="TT Norms Ultra-Bold"/>
                <a:ea typeface="TT Norms Ultra-Bold"/>
                <a:cs typeface="TT Norms Ultra-Bold"/>
                <a:sym typeface="TT Norms Ultra-Bold"/>
              </a:rPr>
              <a:t>FORMAT</a:t>
            </a:r>
          </a:p>
        </p:txBody>
      </p:sp>
      <p:sp>
        <p:nvSpPr>
          <p:cNvPr name="TextBox 83" id="83"/>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84" id="84"/>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85" id="85"/>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06</a:t>
            </a:r>
          </a:p>
        </p:txBody>
      </p:sp>
      <p:sp>
        <p:nvSpPr>
          <p:cNvPr name="TextBox 86" id="86"/>
          <p:cNvSpPr txBox="true"/>
          <p:nvPr/>
        </p:nvSpPr>
        <p:spPr>
          <a:xfrm rot="0">
            <a:off x="1503322" y="1256792"/>
            <a:ext cx="7349775" cy="1419224"/>
          </a:xfrm>
          <a:prstGeom prst="rect">
            <a:avLst/>
          </a:prstGeom>
        </p:spPr>
        <p:txBody>
          <a:bodyPr anchor="t" rtlCol="false" tIns="0" lIns="0" bIns="0" rIns="0">
            <a:spAutoFit/>
          </a:bodyPr>
          <a:lstStyle/>
          <a:p>
            <a:pPr algn="l">
              <a:lnSpc>
                <a:spcPts val="9749"/>
              </a:lnSpc>
            </a:pPr>
            <a:r>
              <a:rPr lang="en-US" sz="12999" spc="-1065">
                <a:solidFill>
                  <a:srgbClr val="8C8F7B"/>
                </a:solidFill>
                <a:latin typeface="TT Norms"/>
                <a:ea typeface="TT Norms"/>
                <a:cs typeface="TT Norms"/>
                <a:sym typeface="TT Norms"/>
              </a:rPr>
              <a:t>CONTENT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5" id="5"/>
          <p:cNvGraphicFramePr>
            <a:graphicFrameLocks noGrp="true"/>
          </p:cNvGraphicFramePr>
          <p:nvPr/>
        </p:nvGraphicFramePr>
        <p:xfrm>
          <a:off x="1598572" y="3645183"/>
          <a:ext cx="15660728" cy="5038725"/>
        </p:xfrm>
        <a:graphic>
          <a:graphicData uri="http://schemas.openxmlformats.org/drawingml/2006/table">
            <a:tbl>
              <a:tblPr/>
              <a:tblGrid>
                <a:gridCol w="2909602"/>
                <a:gridCol w="1649459"/>
                <a:gridCol w="2450849"/>
                <a:gridCol w="2570069"/>
                <a:gridCol w="3302840"/>
                <a:gridCol w="2777909"/>
              </a:tblGrid>
              <a:tr h="839787">
                <a:tc>
                  <a:txBody>
                    <a:bodyPr anchor="t" rtlCol="false"/>
                    <a:lstStyle/>
                    <a:p>
                      <a:pPr algn="ctr" marL="0" indent="0" lvl="0">
                        <a:lnSpc>
                          <a:spcPts val="3079"/>
                        </a:lnSpc>
                        <a:spcBef>
                          <a:spcPct val="0"/>
                        </a:spcBef>
                        <a:defRPr/>
                      </a:pPr>
                      <a:r>
                        <a:rPr lang="en-US" b="true" sz="2199" spc="-48">
                          <a:solidFill>
                            <a:srgbClr val="F7F7F3"/>
                          </a:solidFill>
                          <a:latin typeface="TT Norms Bold"/>
                          <a:ea typeface="TT Norms Bold"/>
                          <a:cs typeface="TT Norms Bold"/>
                          <a:sym typeface="TT Norms Bold"/>
                        </a:rPr>
                        <a:t> DAY</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3079"/>
                        </a:lnSpc>
                        <a:spcBef>
                          <a:spcPct val="0"/>
                        </a:spcBef>
                        <a:defRPr/>
                      </a:pPr>
                      <a:r>
                        <a:rPr lang="en-US" b="true" sz="2199" spc="-48">
                          <a:solidFill>
                            <a:srgbClr val="F7F7F3"/>
                          </a:solidFill>
                          <a:latin typeface="TT Norms Bold"/>
                          <a:ea typeface="TT Norms Bold"/>
                          <a:cs typeface="TT Norms Bold"/>
                          <a:sym typeface="TT Norms Bold"/>
                        </a:rPr>
                        <a:t>TIME</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3079"/>
                        </a:lnSpc>
                        <a:spcBef>
                          <a:spcPct val="0"/>
                        </a:spcBef>
                        <a:defRPr/>
                      </a:pPr>
                      <a:r>
                        <a:rPr lang="en-US" b="true" sz="2199" spc="-48">
                          <a:solidFill>
                            <a:srgbClr val="F7F7F3"/>
                          </a:solidFill>
                          <a:latin typeface="TT Norms Bold"/>
                          <a:ea typeface="TT Norms Bold"/>
                          <a:cs typeface="TT Norms Bold"/>
                          <a:sym typeface="TT Norms Bold"/>
                        </a:rPr>
                        <a:t>FORMAT</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3079"/>
                        </a:lnSpc>
                        <a:spcBef>
                          <a:spcPct val="0"/>
                        </a:spcBef>
                        <a:defRPr/>
                      </a:pPr>
                      <a:r>
                        <a:rPr lang="en-US" b="true" sz="2199" spc="-48">
                          <a:solidFill>
                            <a:srgbClr val="F7F7F3"/>
                          </a:solidFill>
                          <a:latin typeface="TT Norms Bold"/>
                          <a:ea typeface="TT Norms Bold"/>
                          <a:cs typeface="TT Norms Bold"/>
                          <a:sym typeface="TT Norms Bold"/>
                        </a:rPr>
                        <a:t>PILLAR</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3079"/>
                        </a:lnSpc>
                        <a:spcBef>
                          <a:spcPct val="0"/>
                        </a:spcBef>
                        <a:defRPr/>
                      </a:pPr>
                      <a:r>
                        <a:rPr lang="en-US" b="true" sz="2199" spc="-48">
                          <a:solidFill>
                            <a:srgbClr val="F7F7F3"/>
                          </a:solidFill>
                          <a:latin typeface="TT Norms Bold"/>
                          <a:ea typeface="TT Norms Bold"/>
                          <a:cs typeface="TT Norms Bold"/>
                          <a:sym typeface="TT Norms Bold"/>
                        </a:rPr>
                        <a:t>PLATFORM/S</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3079"/>
                        </a:lnSpc>
                        <a:spcBef>
                          <a:spcPct val="0"/>
                        </a:spcBef>
                        <a:defRPr/>
                      </a:pPr>
                      <a:r>
                        <a:rPr lang="en-US" b="true" sz="2199" spc="-48">
                          <a:solidFill>
                            <a:srgbClr val="F7F7F3"/>
                          </a:solidFill>
                          <a:latin typeface="TT Norms Bold"/>
                          <a:ea typeface="TT Norms Bold"/>
                          <a:cs typeface="TT Norms Bold"/>
                          <a:sym typeface="TT Norms Bold"/>
                        </a:rPr>
                        <a:t>NOTES</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r>
              <a:tr h="839787">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MONDAY</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10AM</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IMAGE</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ONE</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 2, 3</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r>
              <a:tr h="839787">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TUESDAY</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10AM</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VIDEO</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TWO</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 2</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r>
              <a:tr h="839787">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WEDNESDAY</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10AM</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VIDEO</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THREE</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r>
              <a:tr h="839787">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THURSDAY</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10AM</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CAROUSEL</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FOUR</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 2, 3</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r>
              <a:tr h="839787">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FRIDAY</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10AM</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IMAGE</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FIVE</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 2</a:t>
                      </a: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95250" marR="95250" marT="95250" marB="95250"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tcPr>
                </a:tc>
              </a:tr>
            </a:tbl>
          </a:graphicData>
        </a:graphic>
      </p:graphicFrame>
      <p:sp>
        <p:nvSpPr>
          <p:cNvPr name="Freeform 6" id="6"/>
          <p:cNvSpPr/>
          <p:nvPr/>
        </p:nvSpPr>
        <p:spPr>
          <a:xfrm flipH="false" flipV="false" rot="0">
            <a:off x="15170588" y="1028700"/>
            <a:ext cx="2095430" cy="2042092"/>
          </a:xfrm>
          <a:custGeom>
            <a:avLst/>
            <a:gdLst/>
            <a:ahLst/>
            <a:cxnLst/>
            <a:rect r="r" b="b" t="t" l="l"/>
            <a:pathLst>
              <a:path h="2042092" w="2095430">
                <a:moveTo>
                  <a:pt x="0" y="0"/>
                </a:moveTo>
                <a:lnTo>
                  <a:pt x="2095430" y="0"/>
                </a:lnTo>
                <a:lnTo>
                  <a:pt x="2095430" y="2042092"/>
                </a:lnTo>
                <a:lnTo>
                  <a:pt x="0" y="20420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8" id="8"/>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9" id="9"/>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07</a:t>
            </a:r>
          </a:p>
        </p:txBody>
      </p:sp>
      <p:sp>
        <p:nvSpPr>
          <p:cNvPr name="TextBox 10" id="10"/>
          <p:cNvSpPr txBox="true"/>
          <p:nvPr/>
        </p:nvSpPr>
        <p:spPr>
          <a:xfrm rot="0">
            <a:off x="1526761" y="2149237"/>
            <a:ext cx="10838968" cy="1419224"/>
          </a:xfrm>
          <a:prstGeom prst="rect">
            <a:avLst/>
          </a:prstGeom>
        </p:spPr>
        <p:txBody>
          <a:bodyPr anchor="t" rtlCol="false" tIns="0" lIns="0" bIns="0" rIns="0">
            <a:spAutoFit/>
          </a:bodyPr>
          <a:lstStyle/>
          <a:p>
            <a:pPr algn="l">
              <a:lnSpc>
                <a:spcPts val="9749"/>
              </a:lnSpc>
            </a:pPr>
            <a:r>
              <a:rPr lang="en-US" b="true" sz="12999" spc="-1065">
                <a:solidFill>
                  <a:srgbClr val="303030"/>
                </a:solidFill>
                <a:latin typeface="TT Norms Ultra-Bold"/>
                <a:ea typeface="TT Norms Ultra-Bold"/>
                <a:cs typeface="TT Norms Ultra-Bold"/>
                <a:sym typeface="TT Norms Ultra-Bold"/>
              </a:rPr>
              <a:t>SCHEDULE</a:t>
            </a:r>
          </a:p>
        </p:txBody>
      </p:sp>
      <p:sp>
        <p:nvSpPr>
          <p:cNvPr name="TextBox 11" id="11"/>
          <p:cNvSpPr txBox="true"/>
          <p:nvPr/>
        </p:nvSpPr>
        <p:spPr>
          <a:xfrm rot="0">
            <a:off x="1507711" y="1135444"/>
            <a:ext cx="10818705" cy="1038225"/>
          </a:xfrm>
          <a:prstGeom prst="rect">
            <a:avLst/>
          </a:prstGeom>
        </p:spPr>
        <p:txBody>
          <a:bodyPr anchor="t" rtlCol="false" tIns="0" lIns="0" bIns="0" rIns="0">
            <a:spAutoFit/>
          </a:bodyPr>
          <a:lstStyle/>
          <a:p>
            <a:pPr algn="l">
              <a:lnSpc>
                <a:spcPts val="6299"/>
              </a:lnSpc>
            </a:pPr>
            <a:r>
              <a:rPr lang="en-US" sz="9000" spc="-495">
                <a:solidFill>
                  <a:srgbClr val="303030"/>
                </a:solidFill>
                <a:latin typeface="Horizon Outlined"/>
                <a:ea typeface="Horizon Outlined"/>
                <a:cs typeface="Horizon Outlined"/>
                <a:sym typeface="Horizon Outlined"/>
              </a:rPr>
              <a:t>POSTING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598572" y="4421662"/>
            <a:ext cx="3657513" cy="637263"/>
            <a:chOff x="0" y="0"/>
            <a:chExt cx="963296" cy="167839"/>
          </a:xfrm>
        </p:grpSpPr>
        <p:sp>
          <p:nvSpPr>
            <p:cNvPr name="Freeform 6" id="6"/>
            <p:cNvSpPr/>
            <p:nvPr/>
          </p:nvSpPr>
          <p:spPr>
            <a:xfrm flipH="false" flipV="false" rot="0">
              <a:off x="0" y="0"/>
              <a:ext cx="963296" cy="167839"/>
            </a:xfrm>
            <a:custGeom>
              <a:avLst/>
              <a:gdLst/>
              <a:ahLst/>
              <a:cxnLst/>
              <a:rect r="r" b="b" t="t" l="l"/>
              <a:pathLst>
                <a:path h="167839" w="963296">
                  <a:moveTo>
                    <a:pt x="83919" y="0"/>
                  </a:moveTo>
                  <a:lnTo>
                    <a:pt x="879376" y="0"/>
                  </a:lnTo>
                  <a:cubicBezTo>
                    <a:pt x="925724" y="0"/>
                    <a:pt x="963296" y="37572"/>
                    <a:pt x="963296" y="83919"/>
                  </a:cubicBezTo>
                  <a:lnTo>
                    <a:pt x="963296" y="83919"/>
                  </a:lnTo>
                  <a:cubicBezTo>
                    <a:pt x="963296" y="130267"/>
                    <a:pt x="925724" y="167839"/>
                    <a:pt x="879376"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7" id="7"/>
            <p:cNvSpPr txBox="true"/>
            <p:nvPr/>
          </p:nvSpPr>
          <p:spPr>
            <a:xfrm>
              <a:off x="0" y="-47625"/>
              <a:ext cx="963296"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SOCIAL ENGAGEMENT</a:t>
              </a:r>
            </a:p>
          </p:txBody>
        </p:sp>
      </p:grpSp>
      <p:sp>
        <p:nvSpPr>
          <p:cNvPr name="Freeform 8" id="8"/>
          <p:cNvSpPr/>
          <p:nvPr/>
        </p:nvSpPr>
        <p:spPr>
          <a:xfrm flipH="false" flipV="false" rot="0">
            <a:off x="15020036" y="1028700"/>
            <a:ext cx="2245981" cy="2245981"/>
          </a:xfrm>
          <a:custGeom>
            <a:avLst/>
            <a:gdLst/>
            <a:ahLst/>
            <a:cxnLst/>
            <a:rect r="r" b="b" t="t" l="l"/>
            <a:pathLst>
              <a:path h="2245981" w="2245981">
                <a:moveTo>
                  <a:pt x="0" y="0"/>
                </a:moveTo>
                <a:lnTo>
                  <a:pt x="2245982" y="0"/>
                </a:lnTo>
                <a:lnTo>
                  <a:pt x="2245982" y="2245981"/>
                </a:lnTo>
                <a:lnTo>
                  <a:pt x="0" y="22459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10" id="10"/>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1" id="11"/>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08</a:t>
            </a:r>
          </a:p>
        </p:txBody>
      </p:sp>
      <p:sp>
        <p:nvSpPr>
          <p:cNvPr name="TextBox 12" id="12"/>
          <p:cNvSpPr txBox="true"/>
          <p:nvPr/>
        </p:nvSpPr>
        <p:spPr>
          <a:xfrm rot="0">
            <a:off x="1598572" y="5310983"/>
            <a:ext cx="6174642" cy="935355"/>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Define the key performance indicators and metrics you will use for measuring the success of the content, including goals you have and how often you will review performance and make adjustments.</a:t>
            </a:r>
          </a:p>
        </p:txBody>
      </p:sp>
      <p:sp>
        <p:nvSpPr>
          <p:cNvPr name="TextBox 13" id="13"/>
          <p:cNvSpPr txBox="true"/>
          <p:nvPr/>
        </p:nvSpPr>
        <p:spPr>
          <a:xfrm rot="0">
            <a:off x="1574386" y="2149237"/>
            <a:ext cx="10838968" cy="1419224"/>
          </a:xfrm>
          <a:prstGeom prst="rect">
            <a:avLst/>
          </a:prstGeom>
        </p:spPr>
        <p:txBody>
          <a:bodyPr anchor="t" rtlCol="false" tIns="0" lIns="0" bIns="0" rIns="0">
            <a:spAutoFit/>
          </a:bodyPr>
          <a:lstStyle/>
          <a:p>
            <a:pPr algn="l">
              <a:lnSpc>
                <a:spcPts val="9749"/>
              </a:lnSpc>
            </a:pPr>
            <a:r>
              <a:rPr lang="en-US" b="true" sz="12999" spc="-1065">
                <a:solidFill>
                  <a:srgbClr val="8C8F7B"/>
                </a:solidFill>
                <a:latin typeface="TT Norms Ultra-Bold"/>
                <a:ea typeface="TT Norms Ultra-Bold"/>
                <a:cs typeface="TT Norms Ultra-Bold"/>
                <a:sym typeface="TT Norms Ultra-Bold"/>
              </a:rPr>
              <a:t>TRACKING</a:t>
            </a:r>
          </a:p>
        </p:txBody>
      </p:sp>
      <p:sp>
        <p:nvSpPr>
          <p:cNvPr name="TextBox 14" id="14"/>
          <p:cNvSpPr txBox="true"/>
          <p:nvPr/>
        </p:nvSpPr>
        <p:spPr>
          <a:xfrm rot="0">
            <a:off x="1594649" y="1116394"/>
            <a:ext cx="10818705" cy="1038225"/>
          </a:xfrm>
          <a:prstGeom prst="rect">
            <a:avLst/>
          </a:prstGeom>
        </p:spPr>
        <p:txBody>
          <a:bodyPr anchor="t" rtlCol="false" tIns="0" lIns="0" bIns="0" rIns="0">
            <a:spAutoFit/>
          </a:bodyPr>
          <a:lstStyle/>
          <a:p>
            <a:pPr algn="l">
              <a:lnSpc>
                <a:spcPts val="6299"/>
              </a:lnSpc>
            </a:pPr>
            <a:r>
              <a:rPr lang="en-US" sz="9000" spc="-495">
                <a:solidFill>
                  <a:srgbClr val="303030"/>
                </a:solidFill>
                <a:latin typeface="Horizon Outlined"/>
                <a:ea typeface="Horizon Outlined"/>
                <a:cs typeface="Horizon Outlined"/>
                <a:sym typeface="Horizon Outlined"/>
              </a:rPr>
              <a:t>ANALYTICS</a:t>
            </a:r>
          </a:p>
        </p:txBody>
      </p:sp>
      <p:grpSp>
        <p:nvGrpSpPr>
          <p:cNvPr name="Group 15" id="15"/>
          <p:cNvGrpSpPr/>
          <p:nvPr/>
        </p:nvGrpSpPr>
        <p:grpSpPr>
          <a:xfrm rot="0">
            <a:off x="8845395" y="4421662"/>
            <a:ext cx="3671663" cy="637263"/>
            <a:chOff x="0" y="0"/>
            <a:chExt cx="967022" cy="167839"/>
          </a:xfrm>
        </p:grpSpPr>
        <p:sp>
          <p:nvSpPr>
            <p:cNvPr name="Freeform 16" id="16"/>
            <p:cNvSpPr/>
            <p:nvPr/>
          </p:nvSpPr>
          <p:spPr>
            <a:xfrm flipH="false" flipV="false" rot="0">
              <a:off x="0" y="0"/>
              <a:ext cx="967022" cy="167839"/>
            </a:xfrm>
            <a:custGeom>
              <a:avLst/>
              <a:gdLst/>
              <a:ahLst/>
              <a:cxnLst/>
              <a:rect r="r" b="b" t="t" l="l"/>
              <a:pathLst>
                <a:path h="167839" w="967022">
                  <a:moveTo>
                    <a:pt x="83919" y="0"/>
                  </a:moveTo>
                  <a:lnTo>
                    <a:pt x="883103" y="0"/>
                  </a:lnTo>
                  <a:cubicBezTo>
                    <a:pt x="929450" y="0"/>
                    <a:pt x="967022" y="37572"/>
                    <a:pt x="967022" y="83919"/>
                  </a:cubicBezTo>
                  <a:lnTo>
                    <a:pt x="967022" y="83919"/>
                  </a:lnTo>
                  <a:cubicBezTo>
                    <a:pt x="967022" y="130267"/>
                    <a:pt x="929450" y="167839"/>
                    <a:pt x="883103"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17" id="17"/>
            <p:cNvSpPr txBox="true"/>
            <p:nvPr/>
          </p:nvSpPr>
          <p:spPr>
            <a:xfrm>
              <a:off x="0" y="-47625"/>
              <a:ext cx="967022"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SALES AND SIGN-UPS</a:t>
              </a:r>
            </a:p>
          </p:txBody>
        </p:sp>
      </p:grpSp>
      <p:sp>
        <p:nvSpPr>
          <p:cNvPr name="TextBox 18" id="18"/>
          <p:cNvSpPr txBox="true"/>
          <p:nvPr/>
        </p:nvSpPr>
        <p:spPr>
          <a:xfrm rot="0">
            <a:off x="8845395" y="5310983"/>
            <a:ext cx="6174642" cy="935355"/>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Define the key performance indicators and metrics you will use for measuring the success of the content, including goals you have and how often you will review performance and make adjustments.</a:t>
            </a:r>
          </a:p>
        </p:txBody>
      </p:sp>
      <p:grpSp>
        <p:nvGrpSpPr>
          <p:cNvPr name="Group 19" id="19"/>
          <p:cNvGrpSpPr/>
          <p:nvPr/>
        </p:nvGrpSpPr>
        <p:grpSpPr>
          <a:xfrm rot="0">
            <a:off x="1598572" y="6827748"/>
            <a:ext cx="3657513" cy="637263"/>
            <a:chOff x="0" y="0"/>
            <a:chExt cx="963296" cy="167839"/>
          </a:xfrm>
        </p:grpSpPr>
        <p:sp>
          <p:nvSpPr>
            <p:cNvPr name="Freeform 20" id="20"/>
            <p:cNvSpPr/>
            <p:nvPr/>
          </p:nvSpPr>
          <p:spPr>
            <a:xfrm flipH="false" flipV="false" rot="0">
              <a:off x="0" y="0"/>
              <a:ext cx="963296" cy="167839"/>
            </a:xfrm>
            <a:custGeom>
              <a:avLst/>
              <a:gdLst/>
              <a:ahLst/>
              <a:cxnLst/>
              <a:rect r="r" b="b" t="t" l="l"/>
              <a:pathLst>
                <a:path h="167839" w="963296">
                  <a:moveTo>
                    <a:pt x="83919" y="0"/>
                  </a:moveTo>
                  <a:lnTo>
                    <a:pt x="879376" y="0"/>
                  </a:lnTo>
                  <a:cubicBezTo>
                    <a:pt x="925724" y="0"/>
                    <a:pt x="963296" y="37572"/>
                    <a:pt x="963296" y="83919"/>
                  </a:cubicBezTo>
                  <a:lnTo>
                    <a:pt x="963296" y="83919"/>
                  </a:lnTo>
                  <a:cubicBezTo>
                    <a:pt x="963296" y="130267"/>
                    <a:pt x="925724" y="167839"/>
                    <a:pt x="879376"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1" id="21"/>
            <p:cNvSpPr txBox="true"/>
            <p:nvPr/>
          </p:nvSpPr>
          <p:spPr>
            <a:xfrm>
              <a:off x="0" y="-47625"/>
              <a:ext cx="963296"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WEBSITE TRAFFIC</a:t>
              </a:r>
            </a:p>
          </p:txBody>
        </p:sp>
      </p:grpSp>
      <p:sp>
        <p:nvSpPr>
          <p:cNvPr name="TextBox 22" id="22"/>
          <p:cNvSpPr txBox="true"/>
          <p:nvPr/>
        </p:nvSpPr>
        <p:spPr>
          <a:xfrm rot="0">
            <a:off x="1598572" y="7717070"/>
            <a:ext cx="6174642" cy="935355"/>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Define the key performance indicators and metrics you will use for measuring the success of the content, including goals you have and how often you will review performance and make adjustments.</a:t>
            </a:r>
          </a:p>
        </p:txBody>
      </p:sp>
      <p:grpSp>
        <p:nvGrpSpPr>
          <p:cNvPr name="Group 23" id="23"/>
          <p:cNvGrpSpPr/>
          <p:nvPr/>
        </p:nvGrpSpPr>
        <p:grpSpPr>
          <a:xfrm rot="0">
            <a:off x="8845395" y="6827748"/>
            <a:ext cx="3671663" cy="637263"/>
            <a:chOff x="0" y="0"/>
            <a:chExt cx="967022" cy="167839"/>
          </a:xfrm>
        </p:grpSpPr>
        <p:sp>
          <p:nvSpPr>
            <p:cNvPr name="Freeform 24" id="24"/>
            <p:cNvSpPr/>
            <p:nvPr/>
          </p:nvSpPr>
          <p:spPr>
            <a:xfrm flipH="false" flipV="false" rot="0">
              <a:off x="0" y="0"/>
              <a:ext cx="967022" cy="167839"/>
            </a:xfrm>
            <a:custGeom>
              <a:avLst/>
              <a:gdLst/>
              <a:ahLst/>
              <a:cxnLst/>
              <a:rect r="r" b="b" t="t" l="l"/>
              <a:pathLst>
                <a:path h="167839" w="967022">
                  <a:moveTo>
                    <a:pt x="83919" y="0"/>
                  </a:moveTo>
                  <a:lnTo>
                    <a:pt x="883103" y="0"/>
                  </a:lnTo>
                  <a:cubicBezTo>
                    <a:pt x="929450" y="0"/>
                    <a:pt x="967022" y="37572"/>
                    <a:pt x="967022" y="83919"/>
                  </a:cubicBezTo>
                  <a:lnTo>
                    <a:pt x="967022" y="83919"/>
                  </a:lnTo>
                  <a:cubicBezTo>
                    <a:pt x="967022" y="130267"/>
                    <a:pt x="929450" y="167839"/>
                    <a:pt x="883103" y="167839"/>
                  </a:cubicBezTo>
                  <a:lnTo>
                    <a:pt x="83919" y="167839"/>
                  </a:lnTo>
                  <a:cubicBezTo>
                    <a:pt x="37572" y="167839"/>
                    <a:pt x="0" y="130267"/>
                    <a:pt x="0" y="83919"/>
                  </a:cubicBezTo>
                  <a:lnTo>
                    <a:pt x="0" y="83919"/>
                  </a:lnTo>
                  <a:cubicBezTo>
                    <a:pt x="0" y="37572"/>
                    <a:pt x="37572" y="0"/>
                    <a:pt x="83919" y="0"/>
                  </a:cubicBezTo>
                  <a:close/>
                </a:path>
              </a:pathLst>
            </a:custGeom>
            <a:solidFill>
              <a:srgbClr val="000000">
                <a:alpha val="0"/>
              </a:srgbClr>
            </a:solidFill>
            <a:ln w="9525" cap="rnd">
              <a:solidFill>
                <a:srgbClr val="8C8F7B"/>
              </a:solidFill>
              <a:prstDash val="solid"/>
              <a:round/>
            </a:ln>
          </p:spPr>
        </p:sp>
        <p:sp>
          <p:nvSpPr>
            <p:cNvPr name="TextBox 25" id="25"/>
            <p:cNvSpPr txBox="true"/>
            <p:nvPr/>
          </p:nvSpPr>
          <p:spPr>
            <a:xfrm>
              <a:off x="0" y="-47625"/>
              <a:ext cx="967022"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303030"/>
                  </a:solidFill>
                  <a:latin typeface="TT Norms"/>
                  <a:ea typeface="TT Norms"/>
                  <a:cs typeface="TT Norms"/>
                  <a:sym typeface="TT Norms"/>
                </a:rPr>
                <a:t>FOLLOWER GROWTH</a:t>
              </a:r>
            </a:p>
          </p:txBody>
        </p:sp>
      </p:grpSp>
      <p:sp>
        <p:nvSpPr>
          <p:cNvPr name="TextBox 26" id="26"/>
          <p:cNvSpPr txBox="true"/>
          <p:nvPr/>
        </p:nvSpPr>
        <p:spPr>
          <a:xfrm rot="0">
            <a:off x="8845395" y="7717070"/>
            <a:ext cx="6174642" cy="935355"/>
          </a:xfrm>
          <a:prstGeom prst="rect">
            <a:avLst/>
          </a:prstGeom>
        </p:spPr>
        <p:txBody>
          <a:bodyPr anchor="t" rtlCol="false" tIns="0" lIns="0" bIns="0" rIns="0">
            <a:spAutoFit/>
          </a:bodyPr>
          <a:lstStyle/>
          <a:p>
            <a:pPr algn="just">
              <a:lnSpc>
                <a:spcPts val="2520"/>
              </a:lnSpc>
              <a:spcBef>
                <a:spcPct val="0"/>
              </a:spcBef>
            </a:pPr>
            <a:r>
              <a:rPr lang="en-US" sz="1800" spc="-75">
                <a:solidFill>
                  <a:srgbClr val="303030"/>
                </a:solidFill>
                <a:latin typeface="TT Norms"/>
                <a:ea typeface="TT Norms"/>
                <a:cs typeface="TT Norms"/>
                <a:sym typeface="TT Norms"/>
              </a:rPr>
              <a:t>Define the key performance indicators and metrics you will use for measuring the success of the content, including goals you have and how often you will review performance and make adjustments.</a:t>
            </a:r>
          </a:p>
        </p:txBody>
      </p:sp>
      <p:grpSp>
        <p:nvGrpSpPr>
          <p:cNvPr name="Group 27" id="27"/>
          <p:cNvGrpSpPr/>
          <p:nvPr/>
        </p:nvGrpSpPr>
        <p:grpSpPr>
          <a:xfrm rot="0">
            <a:off x="5390609" y="4421662"/>
            <a:ext cx="2382604" cy="637263"/>
            <a:chOff x="0" y="0"/>
            <a:chExt cx="627517" cy="167839"/>
          </a:xfrm>
        </p:grpSpPr>
        <p:sp>
          <p:nvSpPr>
            <p:cNvPr name="Freeform 28" id="28"/>
            <p:cNvSpPr/>
            <p:nvPr/>
          </p:nvSpPr>
          <p:spPr>
            <a:xfrm flipH="false" flipV="false" rot="0">
              <a:off x="0" y="0"/>
              <a:ext cx="627517" cy="167839"/>
            </a:xfrm>
            <a:custGeom>
              <a:avLst/>
              <a:gdLst/>
              <a:ahLst/>
              <a:cxnLst/>
              <a:rect r="r" b="b" t="t" l="l"/>
              <a:pathLst>
                <a:path h="167839" w="627517">
                  <a:moveTo>
                    <a:pt x="83919" y="0"/>
                  </a:moveTo>
                  <a:lnTo>
                    <a:pt x="543598" y="0"/>
                  </a:lnTo>
                  <a:cubicBezTo>
                    <a:pt x="589945" y="0"/>
                    <a:pt x="627517" y="37572"/>
                    <a:pt x="627517" y="83919"/>
                  </a:cubicBezTo>
                  <a:lnTo>
                    <a:pt x="627517" y="83919"/>
                  </a:lnTo>
                  <a:cubicBezTo>
                    <a:pt x="627517" y="130267"/>
                    <a:pt x="589945" y="167839"/>
                    <a:pt x="543598"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8C8F7B"/>
              </a:solidFill>
              <a:prstDash val="solid"/>
              <a:round/>
            </a:ln>
          </p:spPr>
        </p:sp>
        <p:sp>
          <p:nvSpPr>
            <p:cNvPr name="TextBox 29" id="29"/>
            <p:cNvSpPr txBox="true"/>
            <p:nvPr/>
          </p:nvSpPr>
          <p:spPr>
            <a:xfrm>
              <a:off x="0" y="-47625"/>
              <a:ext cx="62751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WEEKLY</a:t>
              </a:r>
            </a:p>
          </p:txBody>
        </p:sp>
      </p:grpSp>
      <p:grpSp>
        <p:nvGrpSpPr>
          <p:cNvPr name="Group 30" id="30"/>
          <p:cNvGrpSpPr/>
          <p:nvPr/>
        </p:nvGrpSpPr>
        <p:grpSpPr>
          <a:xfrm rot="0">
            <a:off x="5383526" y="6827748"/>
            <a:ext cx="2382604" cy="637263"/>
            <a:chOff x="0" y="0"/>
            <a:chExt cx="627517" cy="167839"/>
          </a:xfrm>
        </p:grpSpPr>
        <p:sp>
          <p:nvSpPr>
            <p:cNvPr name="Freeform 31" id="31"/>
            <p:cNvSpPr/>
            <p:nvPr/>
          </p:nvSpPr>
          <p:spPr>
            <a:xfrm flipH="false" flipV="false" rot="0">
              <a:off x="0" y="0"/>
              <a:ext cx="627517" cy="167839"/>
            </a:xfrm>
            <a:custGeom>
              <a:avLst/>
              <a:gdLst/>
              <a:ahLst/>
              <a:cxnLst/>
              <a:rect r="r" b="b" t="t" l="l"/>
              <a:pathLst>
                <a:path h="167839" w="627517">
                  <a:moveTo>
                    <a:pt x="83919" y="0"/>
                  </a:moveTo>
                  <a:lnTo>
                    <a:pt x="543598" y="0"/>
                  </a:lnTo>
                  <a:cubicBezTo>
                    <a:pt x="589945" y="0"/>
                    <a:pt x="627517" y="37572"/>
                    <a:pt x="627517" y="83919"/>
                  </a:cubicBezTo>
                  <a:lnTo>
                    <a:pt x="627517" y="83919"/>
                  </a:lnTo>
                  <a:cubicBezTo>
                    <a:pt x="627517" y="130267"/>
                    <a:pt x="589945" y="167839"/>
                    <a:pt x="543598"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32" id="32"/>
            <p:cNvSpPr txBox="true"/>
            <p:nvPr/>
          </p:nvSpPr>
          <p:spPr>
            <a:xfrm>
              <a:off x="0" y="-47625"/>
              <a:ext cx="62751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MONTHLY</a:t>
              </a:r>
            </a:p>
          </p:txBody>
        </p:sp>
      </p:grpSp>
      <p:grpSp>
        <p:nvGrpSpPr>
          <p:cNvPr name="Group 33" id="33"/>
          <p:cNvGrpSpPr/>
          <p:nvPr/>
        </p:nvGrpSpPr>
        <p:grpSpPr>
          <a:xfrm rot="0">
            <a:off x="12637432" y="4421662"/>
            <a:ext cx="2382604" cy="637263"/>
            <a:chOff x="0" y="0"/>
            <a:chExt cx="627517" cy="167839"/>
          </a:xfrm>
        </p:grpSpPr>
        <p:sp>
          <p:nvSpPr>
            <p:cNvPr name="Freeform 34" id="34"/>
            <p:cNvSpPr/>
            <p:nvPr/>
          </p:nvSpPr>
          <p:spPr>
            <a:xfrm flipH="false" flipV="false" rot="0">
              <a:off x="0" y="0"/>
              <a:ext cx="627517" cy="167839"/>
            </a:xfrm>
            <a:custGeom>
              <a:avLst/>
              <a:gdLst/>
              <a:ahLst/>
              <a:cxnLst/>
              <a:rect r="r" b="b" t="t" l="l"/>
              <a:pathLst>
                <a:path h="167839" w="627517">
                  <a:moveTo>
                    <a:pt x="83919" y="0"/>
                  </a:moveTo>
                  <a:lnTo>
                    <a:pt x="543598" y="0"/>
                  </a:lnTo>
                  <a:cubicBezTo>
                    <a:pt x="589945" y="0"/>
                    <a:pt x="627517" y="37572"/>
                    <a:pt x="627517" y="83919"/>
                  </a:cubicBezTo>
                  <a:lnTo>
                    <a:pt x="627517" y="83919"/>
                  </a:lnTo>
                  <a:cubicBezTo>
                    <a:pt x="627517" y="130267"/>
                    <a:pt x="589945" y="167839"/>
                    <a:pt x="543598"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35" id="35"/>
            <p:cNvSpPr txBox="true"/>
            <p:nvPr/>
          </p:nvSpPr>
          <p:spPr>
            <a:xfrm>
              <a:off x="0" y="-47625"/>
              <a:ext cx="62751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MONTHLY</a:t>
              </a:r>
            </a:p>
          </p:txBody>
        </p:sp>
      </p:grpSp>
      <p:grpSp>
        <p:nvGrpSpPr>
          <p:cNvPr name="Group 36" id="36"/>
          <p:cNvGrpSpPr/>
          <p:nvPr/>
        </p:nvGrpSpPr>
        <p:grpSpPr>
          <a:xfrm rot="0">
            <a:off x="12630349" y="6827748"/>
            <a:ext cx="2382604" cy="637263"/>
            <a:chOff x="0" y="0"/>
            <a:chExt cx="627517" cy="167839"/>
          </a:xfrm>
        </p:grpSpPr>
        <p:sp>
          <p:nvSpPr>
            <p:cNvPr name="Freeform 37" id="37"/>
            <p:cNvSpPr/>
            <p:nvPr/>
          </p:nvSpPr>
          <p:spPr>
            <a:xfrm flipH="false" flipV="false" rot="0">
              <a:off x="0" y="0"/>
              <a:ext cx="627517" cy="167839"/>
            </a:xfrm>
            <a:custGeom>
              <a:avLst/>
              <a:gdLst/>
              <a:ahLst/>
              <a:cxnLst/>
              <a:rect r="r" b="b" t="t" l="l"/>
              <a:pathLst>
                <a:path h="167839" w="627517">
                  <a:moveTo>
                    <a:pt x="83919" y="0"/>
                  </a:moveTo>
                  <a:lnTo>
                    <a:pt x="543598" y="0"/>
                  </a:lnTo>
                  <a:cubicBezTo>
                    <a:pt x="589945" y="0"/>
                    <a:pt x="627517" y="37572"/>
                    <a:pt x="627517" y="83919"/>
                  </a:cubicBezTo>
                  <a:lnTo>
                    <a:pt x="627517" y="83919"/>
                  </a:lnTo>
                  <a:cubicBezTo>
                    <a:pt x="627517" y="130267"/>
                    <a:pt x="589945" y="167839"/>
                    <a:pt x="543598"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8C8F7B"/>
              </a:solidFill>
              <a:prstDash val="solid"/>
              <a:round/>
            </a:ln>
          </p:spPr>
        </p:sp>
        <p:sp>
          <p:nvSpPr>
            <p:cNvPr name="TextBox 38" id="38"/>
            <p:cNvSpPr txBox="true"/>
            <p:nvPr/>
          </p:nvSpPr>
          <p:spPr>
            <a:xfrm>
              <a:off x="0" y="-47625"/>
              <a:ext cx="627517"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WEEKLY</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2434546" y="3779164"/>
            <a:ext cx="4251367" cy="2272471"/>
            <a:chOff x="0" y="0"/>
            <a:chExt cx="1119702" cy="598511"/>
          </a:xfrm>
        </p:grpSpPr>
        <p:sp>
          <p:nvSpPr>
            <p:cNvPr name="Freeform 6" id="6"/>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7" id="7"/>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8" id="8"/>
          <p:cNvGrpSpPr/>
          <p:nvPr/>
        </p:nvGrpSpPr>
        <p:grpSpPr>
          <a:xfrm rot="-5400000">
            <a:off x="780968" y="4596768"/>
            <a:ext cx="2272471" cy="637263"/>
            <a:chOff x="0" y="0"/>
            <a:chExt cx="598511" cy="167839"/>
          </a:xfrm>
        </p:grpSpPr>
        <p:sp>
          <p:nvSpPr>
            <p:cNvPr name="Freeform 9" id="9"/>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10" id="10"/>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JANUARY</a:t>
              </a:r>
            </a:p>
          </p:txBody>
        </p:sp>
      </p:grpSp>
      <p:grpSp>
        <p:nvGrpSpPr>
          <p:cNvPr name="Group 11" id="11"/>
          <p:cNvGrpSpPr/>
          <p:nvPr/>
        </p:nvGrpSpPr>
        <p:grpSpPr>
          <a:xfrm rot="-5400000">
            <a:off x="780968" y="7170387"/>
            <a:ext cx="2272471" cy="637263"/>
            <a:chOff x="0" y="0"/>
            <a:chExt cx="598511" cy="167839"/>
          </a:xfrm>
        </p:grpSpPr>
        <p:sp>
          <p:nvSpPr>
            <p:cNvPr name="Freeform 12" id="12"/>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13" id="13"/>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APRIL</a:t>
              </a:r>
            </a:p>
          </p:txBody>
        </p:sp>
      </p:grpSp>
      <p:grpSp>
        <p:nvGrpSpPr>
          <p:cNvPr name="Group 14" id="14"/>
          <p:cNvGrpSpPr/>
          <p:nvPr/>
        </p:nvGrpSpPr>
        <p:grpSpPr>
          <a:xfrm rot="-5400000">
            <a:off x="11353072" y="4596768"/>
            <a:ext cx="2272471" cy="637263"/>
            <a:chOff x="0" y="0"/>
            <a:chExt cx="598511" cy="167839"/>
          </a:xfrm>
        </p:grpSpPr>
        <p:sp>
          <p:nvSpPr>
            <p:cNvPr name="Freeform 15" id="15"/>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16" id="16"/>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MARCH</a:t>
              </a:r>
            </a:p>
          </p:txBody>
        </p:sp>
      </p:grpSp>
      <p:grpSp>
        <p:nvGrpSpPr>
          <p:cNvPr name="Group 17" id="17"/>
          <p:cNvGrpSpPr/>
          <p:nvPr/>
        </p:nvGrpSpPr>
        <p:grpSpPr>
          <a:xfrm rot="-5400000">
            <a:off x="11353072" y="7170387"/>
            <a:ext cx="2272471" cy="637263"/>
            <a:chOff x="0" y="0"/>
            <a:chExt cx="598511" cy="167839"/>
          </a:xfrm>
        </p:grpSpPr>
        <p:sp>
          <p:nvSpPr>
            <p:cNvPr name="Freeform 18" id="18"/>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19" id="19"/>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JUNE</a:t>
              </a:r>
            </a:p>
          </p:txBody>
        </p:sp>
      </p:grpSp>
      <p:grpSp>
        <p:nvGrpSpPr>
          <p:cNvPr name="Group 20" id="20"/>
          <p:cNvGrpSpPr/>
          <p:nvPr/>
        </p:nvGrpSpPr>
        <p:grpSpPr>
          <a:xfrm rot="-5400000">
            <a:off x="6067020" y="4596768"/>
            <a:ext cx="2272471" cy="637263"/>
            <a:chOff x="0" y="0"/>
            <a:chExt cx="598511" cy="167839"/>
          </a:xfrm>
        </p:grpSpPr>
        <p:sp>
          <p:nvSpPr>
            <p:cNvPr name="Freeform 21" id="21"/>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22" id="22"/>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FEBRUARY</a:t>
              </a:r>
            </a:p>
          </p:txBody>
        </p:sp>
      </p:grpSp>
      <p:grpSp>
        <p:nvGrpSpPr>
          <p:cNvPr name="Group 23" id="23"/>
          <p:cNvGrpSpPr/>
          <p:nvPr/>
        </p:nvGrpSpPr>
        <p:grpSpPr>
          <a:xfrm rot="-5400000">
            <a:off x="6067020" y="7170387"/>
            <a:ext cx="2272471" cy="637263"/>
            <a:chOff x="0" y="0"/>
            <a:chExt cx="598511" cy="167839"/>
          </a:xfrm>
        </p:grpSpPr>
        <p:sp>
          <p:nvSpPr>
            <p:cNvPr name="Freeform 24" id="24"/>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8C8F7B"/>
            </a:solidFill>
            <a:ln w="9525" cap="rnd">
              <a:solidFill>
                <a:srgbClr val="303030"/>
              </a:solidFill>
              <a:prstDash val="solid"/>
              <a:round/>
            </a:ln>
          </p:spPr>
        </p:sp>
        <p:sp>
          <p:nvSpPr>
            <p:cNvPr name="TextBox 25" id="25"/>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MAY</a:t>
              </a:r>
            </a:p>
          </p:txBody>
        </p:sp>
      </p:grpSp>
      <p:sp>
        <p:nvSpPr>
          <p:cNvPr name="Freeform 26" id="26"/>
          <p:cNvSpPr/>
          <p:nvPr/>
        </p:nvSpPr>
        <p:spPr>
          <a:xfrm flipH="false" flipV="false" rot="0">
            <a:off x="15133616" y="1028700"/>
            <a:ext cx="2132401" cy="2132401"/>
          </a:xfrm>
          <a:custGeom>
            <a:avLst/>
            <a:gdLst/>
            <a:ahLst/>
            <a:cxnLst/>
            <a:rect r="r" b="b" t="t" l="l"/>
            <a:pathLst>
              <a:path h="2132401" w="2132401">
                <a:moveTo>
                  <a:pt x="0" y="0"/>
                </a:moveTo>
                <a:lnTo>
                  <a:pt x="2132402" y="0"/>
                </a:lnTo>
                <a:lnTo>
                  <a:pt x="2132402" y="2132401"/>
                </a:lnTo>
                <a:lnTo>
                  <a:pt x="0" y="21324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28" id="28"/>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29" id="29"/>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09</a:t>
            </a:r>
          </a:p>
        </p:txBody>
      </p:sp>
      <p:sp>
        <p:nvSpPr>
          <p:cNvPr name="TextBox 30" id="30"/>
          <p:cNvSpPr txBox="true"/>
          <p:nvPr/>
        </p:nvSpPr>
        <p:spPr>
          <a:xfrm rot="0">
            <a:off x="1468398" y="2149237"/>
            <a:ext cx="10838968" cy="1419224"/>
          </a:xfrm>
          <a:prstGeom prst="rect">
            <a:avLst/>
          </a:prstGeom>
        </p:spPr>
        <p:txBody>
          <a:bodyPr anchor="t" rtlCol="false" tIns="0" lIns="0" bIns="0" rIns="0">
            <a:spAutoFit/>
          </a:bodyPr>
          <a:lstStyle/>
          <a:p>
            <a:pPr algn="l">
              <a:lnSpc>
                <a:spcPts val="9749"/>
              </a:lnSpc>
            </a:pPr>
            <a:r>
              <a:rPr lang="en-US" b="true" sz="12999" spc="-1065">
                <a:solidFill>
                  <a:srgbClr val="303030"/>
                </a:solidFill>
                <a:latin typeface="TT Norms Ultra-Bold"/>
                <a:ea typeface="TT Norms Ultra-Bold"/>
                <a:cs typeface="TT Norms Ultra-Bold"/>
                <a:sym typeface="TT Norms Ultra-Bold"/>
              </a:rPr>
              <a:t>FOR 2025</a:t>
            </a:r>
          </a:p>
        </p:txBody>
      </p:sp>
      <p:sp>
        <p:nvSpPr>
          <p:cNvPr name="TextBox 31" id="31"/>
          <p:cNvSpPr txBox="true"/>
          <p:nvPr/>
        </p:nvSpPr>
        <p:spPr>
          <a:xfrm rot="0">
            <a:off x="1517236" y="1135444"/>
            <a:ext cx="10818705" cy="1038225"/>
          </a:xfrm>
          <a:prstGeom prst="rect">
            <a:avLst/>
          </a:prstGeom>
        </p:spPr>
        <p:txBody>
          <a:bodyPr anchor="t" rtlCol="false" tIns="0" lIns="0" bIns="0" rIns="0">
            <a:spAutoFit/>
          </a:bodyPr>
          <a:lstStyle/>
          <a:p>
            <a:pPr algn="l">
              <a:lnSpc>
                <a:spcPts val="6299"/>
              </a:lnSpc>
            </a:pPr>
            <a:r>
              <a:rPr lang="en-US" sz="9000" spc="-495">
                <a:solidFill>
                  <a:srgbClr val="303030"/>
                </a:solidFill>
                <a:latin typeface="Horizon Outlined"/>
                <a:ea typeface="Horizon Outlined"/>
                <a:cs typeface="Horizon Outlined"/>
                <a:sym typeface="Horizon Outlined"/>
              </a:rPr>
              <a:t>KEY DATES</a:t>
            </a:r>
          </a:p>
        </p:txBody>
      </p:sp>
      <p:grpSp>
        <p:nvGrpSpPr>
          <p:cNvPr name="Group 32" id="32"/>
          <p:cNvGrpSpPr/>
          <p:nvPr/>
        </p:nvGrpSpPr>
        <p:grpSpPr>
          <a:xfrm rot="0">
            <a:off x="2434546" y="6352784"/>
            <a:ext cx="4251367" cy="2272471"/>
            <a:chOff x="0" y="0"/>
            <a:chExt cx="1119702" cy="598511"/>
          </a:xfrm>
        </p:grpSpPr>
        <p:sp>
          <p:nvSpPr>
            <p:cNvPr name="Freeform 33" id="33"/>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34" id="34"/>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35" id="35"/>
          <p:cNvGrpSpPr/>
          <p:nvPr/>
        </p:nvGrpSpPr>
        <p:grpSpPr>
          <a:xfrm rot="0">
            <a:off x="7720597" y="3779164"/>
            <a:ext cx="4251367" cy="2272471"/>
            <a:chOff x="0" y="0"/>
            <a:chExt cx="1119702" cy="598511"/>
          </a:xfrm>
        </p:grpSpPr>
        <p:sp>
          <p:nvSpPr>
            <p:cNvPr name="Freeform 36" id="36"/>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37" id="37"/>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38" id="38"/>
          <p:cNvGrpSpPr/>
          <p:nvPr/>
        </p:nvGrpSpPr>
        <p:grpSpPr>
          <a:xfrm rot="0">
            <a:off x="7720597" y="6352784"/>
            <a:ext cx="4251367" cy="2272471"/>
            <a:chOff x="0" y="0"/>
            <a:chExt cx="1119702" cy="598511"/>
          </a:xfrm>
        </p:grpSpPr>
        <p:sp>
          <p:nvSpPr>
            <p:cNvPr name="Freeform 39" id="39"/>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40" id="40"/>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41" id="41"/>
          <p:cNvGrpSpPr/>
          <p:nvPr/>
        </p:nvGrpSpPr>
        <p:grpSpPr>
          <a:xfrm rot="0">
            <a:off x="13006649" y="3779164"/>
            <a:ext cx="4251367" cy="2272471"/>
            <a:chOff x="0" y="0"/>
            <a:chExt cx="1119702" cy="598511"/>
          </a:xfrm>
        </p:grpSpPr>
        <p:sp>
          <p:nvSpPr>
            <p:cNvPr name="Freeform 42" id="42"/>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43" id="43"/>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44" id="44"/>
          <p:cNvGrpSpPr/>
          <p:nvPr/>
        </p:nvGrpSpPr>
        <p:grpSpPr>
          <a:xfrm rot="0">
            <a:off x="13006649" y="6352784"/>
            <a:ext cx="4251367" cy="2272471"/>
            <a:chOff x="0" y="0"/>
            <a:chExt cx="1119702" cy="598511"/>
          </a:xfrm>
        </p:grpSpPr>
        <p:sp>
          <p:nvSpPr>
            <p:cNvPr name="Freeform 45" id="45"/>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46" id="46"/>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2434546" y="3779164"/>
            <a:ext cx="4251367" cy="2272471"/>
            <a:chOff x="0" y="0"/>
            <a:chExt cx="1119702" cy="598511"/>
          </a:xfrm>
        </p:grpSpPr>
        <p:sp>
          <p:nvSpPr>
            <p:cNvPr name="Freeform 6" id="6"/>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7" id="7"/>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sp>
        <p:nvSpPr>
          <p:cNvPr name="TextBox 8" id="8"/>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9" id="9"/>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10" id="10"/>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10</a:t>
            </a:r>
          </a:p>
        </p:txBody>
      </p:sp>
      <p:grpSp>
        <p:nvGrpSpPr>
          <p:cNvPr name="Group 11" id="11"/>
          <p:cNvGrpSpPr/>
          <p:nvPr/>
        </p:nvGrpSpPr>
        <p:grpSpPr>
          <a:xfrm rot="0">
            <a:off x="2434546" y="6352784"/>
            <a:ext cx="4251367" cy="2272471"/>
            <a:chOff x="0" y="0"/>
            <a:chExt cx="1119702" cy="598511"/>
          </a:xfrm>
        </p:grpSpPr>
        <p:sp>
          <p:nvSpPr>
            <p:cNvPr name="Freeform 12" id="12"/>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13" id="13"/>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14" id="14"/>
          <p:cNvGrpSpPr/>
          <p:nvPr/>
        </p:nvGrpSpPr>
        <p:grpSpPr>
          <a:xfrm rot="0">
            <a:off x="7720597" y="3779164"/>
            <a:ext cx="4251367" cy="2272471"/>
            <a:chOff x="0" y="0"/>
            <a:chExt cx="1119702" cy="598511"/>
          </a:xfrm>
        </p:grpSpPr>
        <p:sp>
          <p:nvSpPr>
            <p:cNvPr name="Freeform 15" id="15"/>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16" id="16"/>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17" id="17"/>
          <p:cNvGrpSpPr/>
          <p:nvPr/>
        </p:nvGrpSpPr>
        <p:grpSpPr>
          <a:xfrm rot="0">
            <a:off x="7720597" y="6352784"/>
            <a:ext cx="4251367" cy="2272471"/>
            <a:chOff x="0" y="0"/>
            <a:chExt cx="1119702" cy="598511"/>
          </a:xfrm>
        </p:grpSpPr>
        <p:sp>
          <p:nvSpPr>
            <p:cNvPr name="Freeform 18" id="18"/>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19" id="19"/>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20" id="20"/>
          <p:cNvGrpSpPr/>
          <p:nvPr/>
        </p:nvGrpSpPr>
        <p:grpSpPr>
          <a:xfrm rot="0">
            <a:off x="13006649" y="3779164"/>
            <a:ext cx="4251367" cy="2272471"/>
            <a:chOff x="0" y="0"/>
            <a:chExt cx="1119702" cy="598511"/>
          </a:xfrm>
        </p:grpSpPr>
        <p:sp>
          <p:nvSpPr>
            <p:cNvPr name="Freeform 21" id="21"/>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22" id="22"/>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grpSp>
        <p:nvGrpSpPr>
          <p:cNvPr name="Group 23" id="23"/>
          <p:cNvGrpSpPr/>
          <p:nvPr/>
        </p:nvGrpSpPr>
        <p:grpSpPr>
          <a:xfrm rot="0">
            <a:off x="13006649" y="6352784"/>
            <a:ext cx="4251367" cy="2272471"/>
            <a:chOff x="0" y="0"/>
            <a:chExt cx="1119702" cy="598511"/>
          </a:xfrm>
        </p:grpSpPr>
        <p:sp>
          <p:nvSpPr>
            <p:cNvPr name="Freeform 24" id="24"/>
            <p:cNvSpPr/>
            <p:nvPr/>
          </p:nvSpPr>
          <p:spPr>
            <a:xfrm flipH="false" flipV="false" rot="0">
              <a:off x="0" y="0"/>
              <a:ext cx="1119702" cy="598511"/>
            </a:xfrm>
            <a:custGeom>
              <a:avLst/>
              <a:gdLst/>
              <a:ahLst/>
              <a:cxnLst/>
              <a:rect r="r" b="b" t="t" l="l"/>
              <a:pathLst>
                <a:path h="598511" w="1119702">
                  <a:moveTo>
                    <a:pt x="25495" y="0"/>
                  </a:moveTo>
                  <a:lnTo>
                    <a:pt x="1094207" y="0"/>
                  </a:lnTo>
                  <a:cubicBezTo>
                    <a:pt x="1108287" y="0"/>
                    <a:pt x="1119702" y="11414"/>
                    <a:pt x="1119702" y="25495"/>
                  </a:cubicBezTo>
                  <a:lnTo>
                    <a:pt x="1119702" y="573016"/>
                  </a:lnTo>
                  <a:cubicBezTo>
                    <a:pt x="1119702" y="587096"/>
                    <a:pt x="1108287" y="598511"/>
                    <a:pt x="1094207" y="598511"/>
                  </a:cubicBezTo>
                  <a:lnTo>
                    <a:pt x="25495" y="598511"/>
                  </a:lnTo>
                  <a:cubicBezTo>
                    <a:pt x="11414" y="598511"/>
                    <a:pt x="0" y="587096"/>
                    <a:pt x="0" y="573016"/>
                  </a:cubicBezTo>
                  <a:lnTo>
                    <a:pt x="0" y="25495"/>
                  </a:lnTo>
                  <a:cubicBezTo>
                    <a:pt x="0" y="11414"/>
                    <a:pt x="11414" y="0"/>
                    <a:pt x="25495" y="0"/>
                  </a:cubicBezTo>
                  <a:close/>
                </a:path>
              </a:pathLst>
            </a:custGeom>
            <a:solidFill>
              <a:srgbClr val="000000">
                <a:alpha val="0"/>
              </a:srgbClr>
            </a:solidFill>
            <a:ln w="9525" cap="sq">
              <a:solidFill>
                <a:srgbClr val="303030"/>
              </a:solidFill>
              <a:prstDash val="solid"/>
              <a:miter/>
            </a:ln>
          </p:spPr>
        </p:sp>
        <p:sp>
          <p:nvSpPr>
            <p:cNvPr name="TextBox 25" id="25"/>
            <p:cNvSpPr txBox="true"/>
            <p:nvPr/>
          </p:nvSpPr>
          <p:spPr>
            <a:xfrm>
              <a:off x="0" y="-38100"/>
              <a:ext cx="1119702" cy="636611"/>
            </a:xfrm>
            <a:prstGeom prst="rect">
              <a:avLst/>
            </a:prstGeom>
          </p:spPr>
          <p:txBody>
            <a:bodyPr anchor="t" rtlCol="false" tIns="254000" lIns="254000" bIns="254000" rIns="254000"/>
            <a:lstStyle/>
            <a:p>
              <a:pPr algn="just" marL="0" indent="0" lvl="1">
                <a:lnSpc>
                  <a:spcPts val="2520"/>
                </a:lnSpc>
                <a:spcBef>
                  <a:spcPct val="0"/>
                </a:spcBef>
              </a:pPr>
              <a:r>
                <a:rPr lang="en-US" sz="1800" spc="-75">
                  <a:solidFill>
                    <a:srgbClr val="303030"/>
                  </a:solidFill>
                  <a:latin typeface="TT Norms"/>
                  <a:ea typeface="TT Norms"/>
                  <a:cs typeface="TT Norms"/>
                  <a:sym typeface="TT Norms"/>
                </a:rPr>
                <a:t>Add in key dates for your business, launches or events you are having and any seasonal holidays that will impact your business.</a:t>
              </a:r>
            </a:p>
          </p:txBody>
        </p:sp>
      </p:grpSp>
      <p:sp>
        <p:nvSpPr>
          <p:cNvPr name="Freeform 26" id="26"/>
          <p:cNvSpPr/>
          <p:nvPr/>
        </p:nvSpPr>
        <p:spPr>
          <a:xfrm flipH="false" flipV="false" rot="0">
            <a:off x="15115386" y="1010470"/>
            <a:ext cx="2150631" cy="2150631"/>
          </a:xfrm>
          <a:custGeom>
            <a:avLst/>
            <a:gdLst/>
            <a:ahLst/>
            <a:cxnLst/>
            <a:rect r="r" b="b" t="t" l="l"/>
            <a:pathLst>
              <a:path h="2150631" w="2150631">
                <a:moveTo>
                  <a:pt x="0" y="0"/>
                </a:moveTo>
                <a:lnTo>
                  <a:pt x="2150632" y="0"/>
                </a:lnTo>
                <a:lnTo>
                  <a:pt x="2150632" y="2150631"/>
                </a:lnTo>
                <a:lnTo>
                  <a:pt x="0" y="21506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1468398" y="2149237"/>
            <a:ext cx="10838968" cy="1419224"/>
          </a:xfrm>
          <a:prstGeom prst="rect">
            <a:avLst/>
          </a:prstGeom>
        </p:spPr>
        <p:txBody>
          <a:bodyPr anchor="t" rtlCol="false" tIns="0" lIns="0" bIns="0" rIns="0">
            <a:spAutoFit/>
          </a:bodyPr>
          <a:lstStyle/>
          <a:p>
            <a:pPr algn="l">
              <a:lnSpc>
                <a:spcPts val="9749"/>
              </a:lnSpc>
            </a:pPr>
            <a:r>
              <a:rPr lang="en-US" b="true" sz="12999" spc="-1065">
                <a:solidFill>
                  <a:srgbClr val="8C8F7B"/>
                </a:solidFill>
                <a:latin typeface="TT Norms Ultra-Bold"/>
                <a:ea typeface="TT Norms Ultra-Bold"/>
                <a:cs typeface="TT Norms Ultra-Bold"/>
                <a:sym typeface="TT Norms Ultra-Bold"/>
              </a:rPr>
              <a:t>FOR 2025</a:t>
            </a:r>
          </a:p>
        </p:txBody>
      </p:sp>
      <p:sp>
        <p:nvSpPr>
          <p:cNvPr name="TextBox 28" id="28"/>
          <p:cNvSpPr txBox="true"/>
          <p:nvPr/>
        </p:nvSpPr>
        <p:spPr>
          <a:xfrm rot="0">
            <a:off x="1517236" y="1135444"/>
            <a:ext cx="10818705" cy="1038225"/>
          </a:xfrm>
          <a:prstGeom prst="rect">
            <a:avLst/>
          </a:prstGeom>
        </p:spPr>
        <p:txBody>
          <a:bodyPr anchor="t" rtlCol="false" tIns="0" lIns="0" bIns="0" rIns="0">
            <a:spAutoFit/>
          </a:bodyPr>
          <a:lstStyle/>
          <a:p>
            <a:pPr algn="l">
              <a:lnSpc>
                <a:spcPts val="6299"/>
              </a:lnSpc>
            </a:pPr>
            <a:r>
              <a:rPr lang="en-US" sz="9000" spc="-495">
                <a:solidFill>
                  <a:srgbClr val="303030"/>
                </a:solidFill>
                <a:latin typeface="Horizon Outlined"/>
                <a:ea typeface="Horizon Outlined"/>
                <a:cs typeface="Horizon Outlined"/>
                <a:sym typeface="Horizon Outlined"/>
              </a:rPr>
              <a:t>KEY DATES</a:t>
            </a:r>
          </a:p>
        </p:txBody>
      </p:sp>
      <p:grpSp>
        <p:nvGrpSpPr>
          <p:cNvPr name="Group 29" id="29"/>
          <p:cNvGrpSpPr/>
          <p:nvPr/>
        </p:nvGrpSpPr>
        <p:grpSpPr>
          <a:xfrm rot="-5400000">
            <a:off x="780968" y="4596768"/>
            <a:ext cx="2272471" cy="637263"/>
            <a:chOff x="0" y="0"/>
            <a:chExt cx="598511" cy="167839"/>
          </a:xfrm>
        </p:grpSpPr>
        <p:sp>
          <p:nvSpPr>
            <p:cNvPr name="Freeform 30" id="30"/>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31" id="31"/>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JULY</a:t>
              </a:r>
            </a:p>
          </p:txBody>
        </p:sp>
      </p:grpSp>
      <p:grpSp>
        <p:nvGrpSpPr>
          <p:cNvPr name="Group 32" id="32"/>
          <p:cNvGrpSpPr/>
          <p:nvPr/>
        </p:nvGrpSpPr>
        <p:grpSpPr>
          <a:xfrm rot="-5400000">
            <a:off x="780968" y="7170387"/>
            <a:ext cx="2272471" cy="637263"/>
            <a:chOff x="0" y="0"/>
            <a:chExt cx="598511" cy="167839"/>
          </a:xfrm>
        </p:grpSpPr>
        <p:sp>
          <p:nvSpPr>
            <p:cNvPr name="Freeform 33" id="33"/>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34" id="34"/>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OCTOBER</a:t>
              </a:r>
            </a:p>
          </p:txBody>
        </p:sp>
      </p:grpSp>
      <p:grpSp>
        <p:nvGrpSpPr>
          <p:cNvPr name="Group 35" id="35"/>
          <p:cNvGrpSpPr/>
          <p:nvPr/>
        </p:nvGrpSpPr>
        <p:grpSpPr>
          <a:xfrm rot="-5400000">
            <a:off x="11353072" y="4596768"/>
            <a:ext cx="2272471" cy="637263"/>
            <a:chOff x="0" y="0"/>
            <a:chExt cx="598511" cy="167839"/>
          </a:xfrm>
        </p:grpSpPr>
        <p:sp>
          <p:nvSpPr>
            <p:cNvPr name="Freeform 36" id="36"/>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37" id="37"/>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SEPTEMBER</a:t>
              </a:r>
            </a:p>
          </p:txBody>
        </p:sp>
      </p:grpSp>
      <p:grpSp>
        <p:nvGrpSpPr>
          <p:cNvPr name="Group 38" id="38"/>
          <p:cNvGrpSpPr/>
          <p:nvPr/>
        </p:nvGrpSpPr>
        <p:grpSpPr>
          <a:xfrm rot="-5400000">
            <a:off x="11353072" y="7170387"/>
            <a:ext cx="2272471" cy="637263"/>
            <a:chOff x="0" y="0"/>
            <a:chExt cx="598511" cy="167839"/>
          </a:xfrm>
        </p:grpSpPr>
        <p:sp>
          <p:nvSpPr>
            <p:cNvPr name="Freeform 39" id="39"/>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40" id="40"/>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DECEMBER</a:t>
              </a:r>
            </a:p>
          </p:txBody>
        </p:sp>
      </p:grpSp>
      <p:grpSp>
        <p:nvGrpSpPr>
          <p:cNvPr name="Group 41" id="41"/>
          <p:cNvGrpSpPr/>
          <p:nvPr/>
        </p:nvGrpSpPr>
        <p:grpSpPr>
          <a:xfrm rot="-5400000">
            <a:off x="6067020" y="4596768"/>
            <a:ext cx="2272471" cy="637263"/>
            <a:chOff x="0" y="0"/>
            <a:chExt cx="598511" cy="167839"/>
          </a:xfrm>
        </p:grpSpPr>
        <p:sp>
          <p:nvSpPr>
            <p:cNvPr name="Freeform 42" id="42"/>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43" id="43"/>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AUGUST</a:t>
              </a:r>
            </a:p>
          </p:txBody>
        </p:sp>
      </p:grpSp>
      <p:grpSp>
        <p:nvGrpSpPr>
          <p:cNvPr name="Group 44" id="44"/>
          <p:cNvGrpSpPr/>
          <p:nvPr/>
        </p:nvGrpSpPr>
        <p:grpSpPr>
          <a:xfrm rot="-5400000">
            <a:off x="6067020" y="7170387"/>
            <a:ext cx="2272471" cy="637263"/>
            <a:chOff x="0" y="0"/>
            <a:chExt cx="598511" cy="167839"/>
          </a:xfrm>
        </p:grpSpPr>
        <p:sp>
          <p:nvSpPr>
            <p:cNvPr name="Freeform 45" id="45"/>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303030"/>
            </a:solidFill>
            <a:ln w="9525" cap="rnd">
              <a:solidFill>
                <a:srgbClr val="303030"/>
              </a:solidFill>
              <a:prstDash val="solid"/>
              <a:round/>
            </a:ln>
          </p:spPr>
        </p:sp>
        <p:sp>
          <p:nvSpPr>
            <p:cNvPr name="TextBox 46" id="46"/>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NOVEMBER</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3"/>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303030"/>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303030"/>
            </a:solidFill>
            <a:prstDash val="solid"/>
            <a:headEnd type="none" len="sm" w="sm"/>
            <a:tailEnd type="none" len="sm" w="sm"/>
          </a:ln>
        </p:spPr>
      </p:sp>
      <p:sp>
        <p:nvSpPr>
          <p:cNvPr name="Freeform 4" id="4"/>
          <p:cNvSpPr/>
          <p:nvPr/>
        </p:nvSpPr>
        <p:spPr>
          <a:xfrm flipH="false" flipV="false" rot="0">
            <a:off x="14756322" y="9672731"/>
            <a:ext cx="1853234" cy="208910"/>
          </a:xfrm>
          <a:custGeom>
            <a:avLst/>
            <a:gdLst/>
            <a:ahLst/>
            <a:cxnLst/>
            <a:rect r="r" b="b" t="t" l="l"/>
            <a:pathLst>
              <a:path h="208910" w="1853234">
                <a:moveTo>
                  <a:pt x="0" y="0"/>
                </a:moveTo>
                <a:lnTo>
                  <a:pt x="1853233" y="0"/>
                </a:lnTo>
                <a:lnTo>
                  <a:pt x="1853233" y="208910"/>
                </a:lnTo>
                <a:lnTo>
                  <a:pt x="0" y="208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5" id="5"/>
          <p:cNvGraphicFramePr>
            <a:graphicFrameLocks noGrp="true"/>
          </p:cNvGraphicFramePr>
          <p:nvPr/>
        </p:nvGraphicFramePr>
        <p:xfrm>
          <a:off x="1206540" y="2455067"/>
          <a:ext cx="16052760" cy="6570357"/>
        </p:xfrm>
        <a:graphic>
          <a:graphicData uri="http://schemas.openxmlformats.org/drawingml/2006/table">
            <a:tbl>
              <a:tblPr/>
              <a:tblGrid>
                <a:gridCol w="1749314"/>
                <a:gridCol w="3640905"/>
                <a:gridCol w="1926439"/>
                <a:gridCol w="2237178"/>
                <a:gridCol w="2368016"/>
                <a:gridCol w="1811110"/>
                <a:gridCol w="2319797"/>
              </a:tblGrid>
              <a:tr h="524636">
                <a:tc>
                  <a:txBody>
                    <a:bodyPr anchor="t" rtlCol="false"/>
                    <a:lstStyle/>
                    <a:p>
                      <a:pPr algn="ctr" marL="0" indent="0" lvl="0">
                        <a:lnSpc>
                          <a:spcPts val="2800"/>
                        </a:lnSpc>
                        <a:spcBef>
                          <a:spcPct val="0"/>
                        </a:spcBef>
                        <a:defRPr/>
                      </a:pPr>
                      <a:r>
                        <a:rPr lang="en-US" sz="2000" spc="-44">
                          <a:solidFill>
                            <a:srgbClr val="F7F7F3"/>
                          </a:solidFill>
                          <a:latin typeface="TT Norms"/>
                          <a:ea typeface="TT Norms"/>
                          <a:cs typeface="TT Norms"/>
                          <a:sym typeface="TT Norms"/>
                        </a:rPr>
                        <a:t> DAY</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2799"/>
                        </a:lnSpc>
                        <a:spcBef>
                          <a:spcPct val="0"/>
                        </a:spcBef>
                        <a:defRPr/>
                      </a:pPr>
                      <a:r>
                        <a:rPr lang="en-US" sz="1999" spc="-43">
                          <a:solidFill>
                            <a:srgbClr val="F7F7F3"/>
                          </a:solidFill>
                          <a:latin typeface="TT Norms"/>
                          <a:ea typeface="TT Norms"/>
                          <a:cs typeface="TT Norms"/>
                          <a:sym typeface="TT Norms"/>
                        </a:rPr>
                        <a:t>TITLE</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2799"/>
                        </a:lnSpc>
                        <a:spcBef>
                          <a:spcPct val="0"/>
                        </a:spcBef>
                        <a:defRPr/>
                      </a:pPr>
                      <a:r>
                        <a:rPr lang="en-US" sz="1999" spc="-43">
                          <a:solidFill>
                            <a:srgbClr val="F7F7F3"/>
                          </a:solidFill>
                          <a:latin typeface="TT Norms"/>
                          <a:ea typeface="TT Norms"/>
                          <a:cs typeface="TT Norms"/>
                          <a:sym typeface="TT Norms"/>
                        </a:rPr>
                        <a:t>FORMAT</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2799"/>
                        </a:lnSpc>
                        <a:spcBef>
                          <a:spcPct val="0"/>
                        </a:spcBef>
                        <a:defRPr/>
                      </a:pPr>
                      <a:r>
                        <a:rPr lang="en-US" sz="1999" spc="-43">
                          <a:solidFill>
                            <a:srgbClr val="F7F7F3"/>
                          </a:solidFill>
                          <a:latin typeface="TT Norms"/>
                          <a:ea typeface="TT Norms"/>
                          <a:cs typeface="TT Norms"/>
                          <a:sym typeface="TT Norms"/>
                        </a:rPr>
                        <a:t>PILLAR</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2799"/>
                        </a:lnSpc>
                        <a:spcBef>
                          <a:spcPct val="0"/>
                        </a:spcBef>
                        <a:defRPr/>
                      </a:pPr>
                      <a:r>
                        <a:rPr lang="en-US" sz="1999" spc="-43">
                          <a:solidFill>
                            <a:srgbClr val="F7F7F3"/>
                          </a:solidFill>
                          <a:latin typeface="TT Norms"/>
                          <a:ea typeface="TT Norms"/>
                          <a:cs typeface="TT Norms"/>
                          <a:sym typeface="TT Norms"/>
                        </a:rPr>
                        <a:t>PLATFORM/S</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marL="0" indent="0" lvl="0">
                        <a:lnSpc>
                          <a:spcPts val="2799"/>
                        </a:lnSpc>
                        <a:spcBef>
                          <a:spcPct val="0"/>
                        </a:spcBef>
                        <a:defRPr/>
                      </a:pPr>
                      <a:r>
                        <a:rPr lang="en-US" sz="1999" spc="-43">
                          <a:solidFill>
                            <a:srgbClr val="F7F7F3"/>
                          </a:solidFill>
                          <a:latin typeface="TT Norms"/>
                          <a:ea typeface="TT Norms"/>
                          <a:cs typeface="TT Norms"/>
                          <a:sym typeface="TT Norms"/>
                        </a:rPr>
                        <a:t>CTA</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c>
                  <a:txBody>
                    <a:bodyPr anchor="t" rtlCol="false"/>
                    <a:lstStyle/>
                    <a:p>
                      <a:pPr algn="ctr">
                        <a:lnSpc>
                          <a:spcPts val="2799"/>
                        </a:lnSpc>
                        <a:spcBef>
                          <a:spcPct val="0"/>
                        </a:spcBef>
                        <a:defRPr/>
                      </a:pPr>
                      <a:r>
                        <a:rPr lang="en-US" sz="1999" spc="-43">
                          <a:solidFill>
                            <a:srgbClr val="F7F7F3"/>
                          </a:solidFill>
                          <a:latin typeface="TT Norms"/>
                          <a:ea typeface="TT Norms"/>
                          <a:cs typeface="TT Norms"/>
                          <a:sym typeface="TT Norms"/>
                        </a:rPr>
                        <a:t>NOTES</a:t>
                      </a:r>
                      <a:endParaRPr lang="en-US" sz="1100"/>
                    </a:p>
                  </a:txBody>
                  <a:tcPr marL="47625" marR="47625" marT="47625" marB="47625" anchor="ctr">
                    <a:lnL cmpd="sng" algn="ctr" cap="flat" w="9525">
                      <a:solidFill>
                        <a:srgbClr val="303030"/>
                      </a:solidFill>
                      <a:prstDash val="solid"/>
                      <a:round/>
                      <a:headEnd type="none" w="med" len="med"/>
                      <a:tailEnd type="none" w="med" len="med"/>
                    </a:lnL>
                    <a:lnR cmpd="sng" algn="ctr" cap="flat" w="9525">
                      <a:solidFill>
                        <a:srgbClr val="303030"/>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303030"/>
                      </a:solidFill>
                      <a:prstDash val="solid"/>
                      <a:round/>
                      <a:headEnd type="none" w="med" len="med"/>
                      <a:tailEnd type="none" w="med" len="med"/>
                    </a:lnB>
                    <a:solidFill>
                      <a:srgbClr val="8C8F7B"/>
                    </a:solidFill>
                  </a:tcPr>
                </a:tc>
              </a:tr>
              <a:tr h="863674">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Monday</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l" marL="0" indent="0" lvl="0">
                        <a:lnSpc>
                          <a:spcPts val="2520"/>
                        </a:lnSpc>
                        <a:spcBef>
                          <a:spcPct val="0"/>
                        </a:spcBef>
                        <a:defRPr/>
                      </a:pPr>
                      <a:r>
                        <a:rPr lang="en-US" sz="1800" spc="-39">
                          <a:solidFill>
                            <a:srgbClr val="303030"/>
                          </a:solidFill>
                          <a:latin typeface="TT Norms"/>
                          <a:ea typeface="TT Norms"/>
                          <a:cs typeface="TT Norms"/>
                          <a:sym typeface="TT Norms"/>
                        </a:rPr>
                        <a:t>Client Testimonial</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IMAGE</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ONE</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Visit our Website</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create graphic</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303030"/>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63674">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Tuesday</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l" marL="0" indent="0" lvl="0">
                        <a:lnSpc>
                          <a:spcPts val="2520"/>
                        </a:lnSpc>
                        <a:spcBef>
                          <a:spcPct val="0"/>
                        </a:spcBef>
                        <a:defRPr/>
                      </a:pPr>
                      <a:r>
                        <a:rPr lang="en-US" sz="1800" spc="-39">
                          <a:solidFill>
                            <a:srgbClr val="303030"/>
                          </a:solidFill>
                          <a:latin typeface="TT Norms"/>
                          <a:ea typeface="TT Norms"/>
                          <a:cs typeface="TT Norms"/>
                          <a:sym typeface="TT Norms"/>
                        </a:rPr>
                        <a:t>A Day in the Life of a social media manager</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VIDEO</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TWO</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2</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Follow me</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63674">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Wednesday</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l" marL="0" indent="0" lvl="0">
                        <a:lnSpc>
                          <a:spcPts val="2520"/>
                        </a:lnSpc>
                        <a:spcBef>
                          <a:spcPct val="0"/>
                        </a:spcBef>
                        <a:defRPr/>
                      </a:pPr>
                      <a:r>
                        <a:rPr lang="en-US" sz="1800" spc="-39">
                          <a:solidFill>
                            <a:srgbClr val="303030"/>
                          </a:solidFill>
                          <a:latin typeface="TT Norms"/>
                          <a:ea typeface="TT Norms"/>
                          <a:cs typeface="TT Norms"/>
                          <a:sym typeface="TT Norms"/>
                        </a:rPr>
                        <a:t>The best scheduling tools for social media</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BLOG POST</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PILLAR THREE</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PLATFORM 1</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Read More</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520"/>
                        </a:lnSpc>
                        <a:spcBef>
                          <a:spcPct val="0"/>
                        </a:spcBef>
                        <a:defRPr/>
                      </a:pPr>
                      <a:r>
                        <a:rPr lang="en-US" sz="1800" spc="-39">
                          <a:solidFill>
                            <a:srgbClr val="303030"/>
                          </a:solidFill>
                          <a:latin typeface="TT Norms"/>
                          <a:ea typeface="TT Norms"/>
                          <a:cs typeface="TT Norms"/>
                          <a:sym typeface="TT Norms"/>
                        </a:rPr>
                        <a:t>share to social media</a:t>
                      </a: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63674">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63674">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63674">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r h="863674">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c>
                  <a:txBody>
                    <a:bodyPr anchor="t" rtlCol="false"/>
                    <a:lstStyle/>
                    <a:p>
                      <a:pPr algn="ctr" marL="0" indent="0" lvl="0">
                        <a:lnSpc>
                          <a:spcPts val="2379"/>
                        </a:lnSpc>
                        <a:spcBef>
                          <a:spcPct val="0"/>
                        </a:spcBef>
                        <a:defRPr/>
                      </a:pPr>
                      <a:endParaRPr lang="en-US" sz="1100"/>
                    </a:p>
                  </a:txBody>
                  <a:tcPr marL="47625" marR="47625" marT="47625" marB="47625" anchor="ctr">
                    <a:lnL cmpd="sng" algn="ctr" cap="flat" w="9525">
                      <a:solidFill>
                        <a:srgbClr val="8C8F7B"/>
                      </a:solidFill>
                      <a:prstDash val="solid"/>
                      <a:round/>
                      <a:headEnd type="none" w="med" len="med"/>
                      <a:tailEnd type="none" w="med" len="med"/>
                    </a:lnL>
                    <a:lnR cmpd="sng" algn="ctr" cap="flat" w="9525">
                      <a:solidFill>
                        <a:srgbClr val="8C8F7B"/>
                      </a:solidFill>
                      <a:prstDash val="solid"/>
                      <a:round/>
                      <a:headEnd type="none" w="med" len="med"/>
                      <a:tailEnd type="none" w="med" len="med"/>
                    </a:lnR>
                    <a:lnT cmpd="sng" algn="ctr" cap="flat" w="9525">
                      <a:solidFill>
                        <a:srgbClr val="8C8F7B"/>
                      </a:solidFill>
                      <a:prstDash val="solid"/>
                      <a:round/>
                      <a:headEnd type="none" w="med" len="med"/>
                      <a:tailEnd type="none" w="med" len="med"/>
                    </a:lnT>
                    <a:lnB cmpd="sng" algn="ctr" cap="flat" w="9525">
                      <a:solidFill>
                        <a:srgbClr val="8C8F7B"/>
                      </a:solidFill>
                      <a:prstDash val="solid"/>
                      <a:round/>
                      <a:headEnd type="none" w="med" len="med"/>
                      <a:tailEnd type="none" w="med" len="med"/>
                    </a:lnB>
                  </a:tcPr>
                </a:tc>
              </a:tr>
            </a:tbl>
          </a:graphicData>
        </a:graphic>
      </p:graphicFrame>
      <p:sp>
        <p:nvSpPr>
          <p:cNvPr name="Freeform 6" id="6"/>
          <p:cNvSpPr/>
          <p:nvPr/>
        </p:nvSpPr>
        <p:spPr>
          <a:xfrm flipH="false" flipV="false" rot="0">
            <a:off x="1206540" y="1327884"/>
            <a:ext cx="2158701" cy="843856"/>
          </a:xfrm>
          <a:custGeom>
            <a:avLst/>
            <a:gdLst/>
            <a:ahLst/>
            <a:cxnLst/>
            <a:rect r="r" b="b" t="t" l="l"/>
            <a:pathLst>
              <a:path h="843856" w="2158701">
                <a:moveTo>
                  <a:pt x="0" y="0"/>
                </a:moveTo>
                <a:lnTo>
                  <a:pt x="2158701" y="0"/>
                </a:lnTo>
                <a:lnTo>
                  <a:pt x="2158701" y="843856"/>
                </a:lnTo>
                <a:lnTo>
                  <a:pt x="0" y="8438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5400000">
            <a:off x="-824971" y="8395082"/>
            <a:ext cx="2659433" cy="365760"/>
          </a:xfrm>
          <a:prstGeom prst="rect">
            <a:avLst/>
          </a:prstGeom>
        </p:spPr>
        <p:txBody>
          <a:bodyPr anchor="t" rtlCol="false" tIns="0" lIns="0" bIns="0" rIns="0">
            <a:spAutoFit/>
          </a:bodyPr>
          <a:lstStyle/>
          <a:p>
            <a:pPr algn="l">
              <a:lnSpc>
                <a:spcPts val="2940"/>
              </a:lnSpc>
              <a:spcBef>
                <a:spcPct val="0"/>
              </a:spcBef>
            </a:pPr>
            <a:r>
              <a:rPr lang="en-US" sz="2100" spc="-46">
                <a:solidFill>
                  <a:srgbClr val="303030"/>
                </a:solidFill>
                <a:latin typeface="TT Norms"/>
                <a:ea typeface="TT Norms"/>
                <a:cs typeface="TT Norms"/>
                <a:sym typeface="TT Norms"/>
              </a:rPr>
              <a:t>STUDIO SHODWE</a:t>
            </a:r>
          </a:p>
        </p:txBody>
      </p:sp>
      <p:sp>
        <p:nvSpPr>
          <p:cNvPr name="TextBox 8" id="8"/>
          <p:cNvSpPr txBox="true"/>
          <p:nvPr/>
        </p:nvSpPr>
        <p:spPr>
          <a:xfrm rot="-5400000">
            <a:off x="-1147448" y="1848636"/>
            <a:ext cx="3304388"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REALLYGREATSITE.COM</a:t>
            </a:r>
          </a:p>
        </p:txBody>
      </p:sp>
      <p:sp>
        <p:nvSpPr>
          <p:cNvPr name="TextBox 9" id="9"/>
          <p:cNvSpPr txBox="true"/>
          <p:nvPr/>
        </p:nvSpPr>
        <p:spPr>
          <a:xfrm rot="0">
            <a:off x="16609555" y="9570493"/>
            <a:ext cx="1312924" cy="365760"/>
          </a:xfrm>
          <a:prstGeom prst="rect">
            <a:avLst/>
          </a:prstGeom>
        </p:spPr>
        <p:txBody>
          <a:bodyPr anchor="t" rtlCol="false" tIns="0" lIns="0" bIns="0" rIns="0">
            <a:spAutoFit/>
          </a:bodyPr>
          <a:lstStyle/>
          <a:p>
            <a:pPr algn="r">
              <a:lnSpc>
                <a:spcPts val="2940"/>
              </a:lnSpc>
              <a:spcBef>
                <a:spcPct val="0"/>
              </a:spcBef>
            </a:pPr>
            <a:r>
              <a:rPr lang="en-US" sz="2100" spc="-46">
                <a:solidFill>
                  <a:srgbClr val="303030"/>
                </a:solidFill>
                <a:latin typeface="TT Norms"/>
                <a:ea typeface="TT Norms"/>
                <a:cs typeface="TT Norms"/>
                <a:sym typeface="TT Norms"/>
              </a:rPr>
              <a:t>PAGE 11</a:t>
            </a:r>
          </a:p>
        </p:txBody>
      </p:sp>
      <p:sp>
        <p:nvSpPr>
          <p:cNvPr name="TextBox 10" id="10"/>
          <p:cNvSpPr txBox="true"/>
          <p:nvPr/>
        </p:nvSpPr>
        <p:spPr>
          <a:xfrm rot="0">
            <a:off x="9264808" y="1235360"/>
            <a:ext cx="7994492" cy="1419224"/>
          </a:xfrm>
          <a:prstGeom prst="rect">
            <a:avLst/>
          </a:prstGeom>
        </p:spPr>
        <p:txBody>
          <a:bodyPr anchor="t" rtlCol="false" tIns="0" lIns="0" bIns="0" rIns="0">
            <a:spAutoFit/>
          </a:bodyPr>
          <a:lstStyle/>
          <a:p>
            <a:pPr algn="r">
              <a:lnSpc>
                <a:spcPts val="9749"/>
              </a:lnSpc>
            </a:pPr>
            <a:r>
              <a:rPr lang="en-US" b="true" sz="12999" spc="-1065">
                <a:solidFill>
                  <a:srgbClr val="303030"/>
                </a:solidFill>
                <a:latin typeface="TT Norms Ultra-Bold"/>
                <a:ea typeface="TT Norms Ultra-Bold"/>
                <a:cs typeface="TT Norms Ultra-Bold"/>
                <a:sym typeface="TT Norms Ultra-Bold"/>
              </a:rPr>
              <a:t>PLANNER</a:t>
            </a:r>
          </a:p>
        </p:txBody>
      </p:sp>
      <p:sp>
        <p:nvSpPr>
          <p:cNvPr name="TextBox 11" id="11"/>
          <p:cNvSpPr txBox="true"/>
          <p:nvPr/>
        </p:nvSpPr>
        <p:spPr>
          <a:xfrm rot="0">
            <a:off x="3365241" y="1235360"/>
            <a:ext cx="6385421" cy="1419224"/>
          </a:xfrm>
          <a:prstGeom prst="rect">
            <a:avLst/>
          </a:prstGeom>
        </p:spPr>
        <p:txBody>
          <a:bodyPr anchor="t" rtlCol="false" tIns="0" lIns="0" bIns="0" rIns="0">
            <a:spAutoFit/>
          </a:bodyPr>
          <a:lstStyle/>
          <a:p>
            <a:pPr algn="r">
              <a:lnSpc>
                <a:spcPts val="9749"/>
              </a:lnSpc>
            </a:pPr>
            <a:r>
              <a:rPr lang="en-US" sz="12999" spc="-1065">
                <a:solidFill>
                  <a:srgbClr val="8C8F7B"/>
                </a:solidFill>
                <a:latin typeface="TT Norms"/>
                <a:ea typeface="TT Norms"/>
                <a:cs typeface="TT Norms"/>
                <a:sym typeface="TT Norms"/>
              </a:rPr>
              <a:t>WEEKLY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DAG6vJ50l8I</dc:identifier>
  <dcterms:modified xsi:type="dcterms:W3CDTF">2011-08-01T06:04:30Z</dcterms:modified>
  <cp:revision>1</cp:revision>
  <dc:title>Olive Green Beige Bold Geometric 2025 Social Media Content Calendar Presentation</dc:title>
</cp:coreProperties>
</file>